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76"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02"/>
    <p:restoredTop sz="94674"/>
  </p:normalViewPr>
  <p:slideViewPr>
    <p:cSldViewPr snapToGrid="0" snapToObjects="1">
      <p:cViewPr varScale="1">
        <p:scale>
          <a:sx n="49" d="100"/>
          <a:sy n="49" d="100"/>
        </p:scale>
        <p:origin x="1371" y="2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7339A01-2198-B84A-AAA1-4B82D4D899B9}"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2537338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339A01-2198-B84A-AAA1-4B82D4D899B9}"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1136734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339A01-2198-B84A-AAA1-4B82D4D899B9}"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3350671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339A01-2198-B84A-AAA1-4B82D4D899B9}"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781047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339A01-2198-B84A-AAA1-4B82D4D899B9}" type="datetimeFigureOut">
              <a:rPr lang="en-US" smtClean="0"/>
              <a:t>9/13/2022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2977992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339A01-2198-B84A-AAA1-4B82D4D899B9}" type="datetimeFigureOut">
              <a:rPr lang="en-US" smtClean="0"/>
              <a:t>9/13/2022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1903131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339A01-2198-B84A-AAA1-4B82D4D899B9}" type="datetimeFigureOut">
              <a:rPr lang="en-US" smtClean="0"/>
              <a:t>9/13/2022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3802520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339A01-2198-B84A-AAA1-4B82D4D899B9}"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554021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339A01-2198-B84A-AAA1-4B82D4D899B9}"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2390292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339A01-2198-B84A-AAA1-4B82D4D899B9}"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336071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339A01-2198-B84A-AAA1-4B82D4D899B9}"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C1B90-B3E3-3942-9080-58F40AB816FD}" type="slidenum">
              <a:rPr lang="en-US" smtClean="0"/>
              <a:t>‹#›</a:t>
            </a:fld>
            <a:endParaRPr lang="en-US"/>
          </a:p>
        </p:txBody>
      </p:sp>
    </p:spTree>
    <p:extLst>
      <p:ext uri="{BB962C8B-B14F-4D97-AF65-F5344CB8AC3E}">
        <p14:creationId xmlns:p14="http://schemas.microsoft.com/office/powerpoint/2010/main" val="3959716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339A01-2198-B84A-AAA1-4B82D4D899B9}" type="datetimeFigureOut">
              <a:rPr lang="en-US" smtClean="0"/>
              <a:t>9/13/2022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C1B90-B3E3-3942-9080-58F40AB816FD}" type="slidenum">
              <a:rPr lang="en-US" smtClean="0"/>
              <a:t>‹#›</a:t>
            </a:fld>
            <a:endParaRPr lang="en-US"/>
          </a:p>
        </p:txBody>
      </p:sp>
    </p:spTree>
    <p:extLst>
      <p:ext uri="{BB962C8B-B14F-4D97-AF65-F5344CB8AC3E}">
        <p14:creationId xmlns:p14="http://schemas.microsoft.com/office/powerpoint/2010/main" val="1874715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www.cpp.edu/~jrfisher/www/prolog_tutorial/2_14.html"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handcraftsman.wordpress.com/2015/06/21/four-coloring-a-graph-of-u-s-states-with-python-and-a-ga/" TargetMode="External"/><Relationship Id="rId2" Type="http://schemas.openxmlformats.org/officeDocument/2006/relationships/hyperlink" Target="http://www.cplusplus.com/forum/general/123813/" TargetMode="Externa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www.cpp.edu/~jrfisher/www/prolog_tutorial/2_1.html" TargetMode="External"/><Relationship Id="rId2" Type="http://schemas.openxmlformats.org/officeDocument/2006/relationships/hyperlink" Target="https://bernardopires.com/2013/10/try-logic-programming-a-gentle-introduction-to-prolog/"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latin typeface="Arial" charset="0"/>
                <a:ea typeface="Arial" charset="0"/>
                <a:cs typeface="Arial" charset="0"/>
              </a:rPr>
              <a:t>Prolog</a:t>
            </a:r>
          </a:p>
        </p:txBody>
      </p:sp>
      <p:sp>
        <p:nvSpPr>
          <p:cNvPr id="3" name="Subtitle 2"/>
          <p:cNvSpPr>
            <a:spLocks noGrp="1"/>
          </p:cNvSpPr>
          <p:nvPr>
            <p:ph type="subTitle" idx="1"/>
          </p:nvPr>
        </p:nvSpPr>
        <p:spPr/>
        <p:txBody>
          <a:bodyPr/>
          <a:lstStyle/>
          <a:p>
            <a:r>
              <a:rPr lang="en-US" dirty="0"/>
              <a:t>Based on: Chapter 12 of PLP</a:t>
            </a:r>
          </a:p>
          <a:p>
            <a:r>
              <a:rPr lang="en-US" dirty="0"/>
              <a:t>“Seven languages in seven weeks”</a:t>
            </a:r>
          </a:p>
          <a:p>
            <a:r>
              <a:rPr lang="en-US" dirty="0"/>
              <a:t>Various links (see schedule page)</a:t>
            </a:r>
          </a:p>
        </p:txBody>
      </p:sp>
    </p:spTree>
    <p:extLst>
      <p:ext uri="{BB962C8B-B14F-4D97-AF65-F5344CB8AC3E}">
        <p14:creationId xmlns:p14="http://schemas.microsoft.com/office/powerpoint/2010/main" val="3655173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charset="0"/>
                <a:ea typeface="Arial" charset="0"/>
                <a:cs typeface="Arial" charset="0"/>
              </a:rPr>
              <a:t>Last time</a:t>
            </a:r>
          </a:p>
        </p:txBody>
      </p:sp>
      <p:sp>
        <p:nvSpPr>
          <p:cNvPr id="3" name="Content Placeholder 2"/>
          <p:cNvSpPr>
            <a:spLocks noGrp="1"/>
          </p:cNvSpPr>
          <p:nvPr>
            <p:ph idx="1"/>
          </p:nvPr>
        </p:nvSpPr>
        <p:spPr/>
        <p:txBody>
          <a:bodyPr>
            <a:normAutofit lnSpcReduction="10000"/>
          </a:bodyPr>
          <a:lstStyle/>
          <a:p>
            <a:r>
              <a:rPr lang="en-US" dirty="0"/>
              <a:t>A longer exercise</a:t>
            </a:r>
          </a:p>
          <a:p>
            <a:r>
              <a:rPr lang="en-US" dirty="0"/>
              <a:t>Homework for prolog is posted, due next Friday via </a:t>
            </a:r>
            <a:r>
              <a:rPr lang="en-US" dirty="0" err="1"/>
              <a:t>git</a:t>
            </a:r>
            <a:endParaRPr lang="en-US" dirty="0"/>
          </a:p>
          <a:p>
            <a:pPr lvl="1"/>
            <a:r>
              <a:rPr lang="en-US" dirty="0"/>
              <a:t>We’ll finish prolog today</a:t>
            </a:r>
          </a:p>
          <a:p>
            <a:r>
              <a:rPr lang="en-US" dirty="0"/>
              <a:t>Two random topics next week, then overview lecture</a:t>
            </a:r>
          </a:p>
          <a:p>
            <a:r>
              <a:rPr lang="en-US" dirty="0"/>
              <a:t>Review on last day of class</a:t>
            </a:r>
          </a:p>
          <a:p>
            <a:r>
              <a:rPr lang="en-US" dirty="0"/>
              <a:t>Final is stupid early on 1</a:t>
            </a:r>
            <a:r>
              <a:rPr lang="en-US" baseline="30000" dirty="0"/>
              <a:t>st</a:t>
            </a:r>
            <a:r>
              <a:rPr lang="en-US" dirty="0"/>
              <a:t> day of finals</a:t>
            </a:r>
          </a:p>
          <a:p>
            <a:pPr lvl="1"/>
            <a:r>
              <a:rPr lang="en-US" dirty="0"/>
              <a:t>SET AN ALARM</a:t>
            </a:r>
          </a:p>
        </p:txBody>
      </p:sp>
    </p:spTree>
    <p:extLst>
      <p:ext uri="{BB962C8B-B14F-4D97-AF65-F5344CB8AC3E}">
        <p14:creationId xmlns:p14="http://schemas.microsoft.com/office/powerpoint/2010/main" val="424010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sp>
        <p:nvSpPr>
          <p:cNvPr id="23560" name="Rectangle 8"/>
          <p:cNvSpPr>
            <a:spLocks noGrp="1" noChangeArrowheads="1"/>
          </p:cNvSpPr>
          <p:nvPr>
            <p:ph type="title"/>
          </p:nvPr>
        </p:nvSpPr>
        <p:spPr>
          <a:xfrm>
            <a:off x="406400" y="228600"/>
            <a:ext cx="8509000" cy="1143000"/>
          </a:xfrm>
          <a:extLst>
            <a:ext uri="{91240B29-F687-4f45-9708-019B960494DF}">
              <a14:hiddenLine xmlns:a14="http://schemas.microsoft.com/office/drawing/2010/main" xmlns=""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Conclusion from last time:</a:t>
            </a:r>
          </a:p>
        </p:txBody>
      </p:sp>
      <p:sp>
        <p:nvSpPr>
          <p:cNvPr id="23561" name="Rectangle 9"/>
          <p:cNvSpPr>
            <a:spLocks noGrp="1" noChangeArrowheads="1"/>
          </p:cNvSpPr>
          <p:nvPr>
            <p:ph type="body" idx="1"/>
          </p:nvPr>
        </p:nvSpPr>
        <p:spPr>
          <a:xfrm>
            <a:off x="457200" y="1143000"/>
            <a:ext cx="7772400" cy="5334000"/>
          </a:xfrm>
          <a:extLst>
            <a:ext uri="{91240B29-F687-4f45-9708-019B960494DF}">
              <a14:hiddenLine xmlns:a14="http://schemas.microsoft.com/office/drawing/2010/main" xmlns="" w="9525">
                <a:solidFill>
                  <a:schemeClr val="tx1"/>
                </a:solidFill>
                <a:miter lim="800000"/>
                <a:headEnd/>
                <a:tailEnd/>
              </a14:hiddenLine>
            </a:ext>
          </a:extLst>
        </p:spPr>
        <p:txBody>
          <a:bodyPr rIns="132080">
            <a:normAutofit/>
          </a:bodyPr>
          <a:lstStyle/>
          <a:p>
            <a:pPr eaLnBrk="1" hangingPunct="1">
              <a:defRPr/>
            </a:pPr>
            <a:r>
              <a:rPr lang="en-US" sz="3200" dirty="0">
                <a:latin typeface="Times New Roman" charset="0"/>
                <a:ea typeface="ＭＳ Ｐゴシック" charset="0"/>
              </a:rPr>
              <a:t>PROLOG IS </a:t>
            </a:r>
            <a:r>
              <a:rPr lang="en-US" sz="3200" b="1" i="1" dirty="0">
                <a:latin typeface="Times New Roman" charset="0"/>
                <a:ea typeface="ＭＳ Ｐゴシック" charset="0"/>
              </a:rPr>
              <a:t>NOT</a:t>
            </a:r>
            <a:r>
              <a:rPr lang="en-US" sz="3200" dirty="0">
                <a:latin typeface="Times New Roman" charset="0"/>
                <a:ea typeface="ＭＳ Ｐゴシック" charset="0"/>
              </a:rPr>
              <a:t> PURELY DECLARATIVE</a:t>
            </a:r>
          </a:p>
          <a:p>
            <a:pPr lvl="1">
              <a:defRPr/>
            </a:pPr>
            <a:r>
              <a:rPr lang="en-US" sz="2800" dirty="0">
                <a:latin typeface="Times New Roman" charset="0"/>
                <a:ea typeface="ＭＳ Ｐゴシック" charset="0"/>
              </a:rPr>
              <a:t>So how was I lying when I </a:t>
            </a:r>
            <a:r>
              <a:rPr lang="en-US" sz="2800" dirty="0" err="1">
                <a:latin typeface="Times New Roman" charset="0"/>
                <a:ea typeface="ＭＳ Ｐゴシック" charset="0"/>
              </a:rPr>
              <a:t>introducted</a:t>
            </a:r>
            <a:r>
              <a:rPr lang="en-US" sz="2800" dirty="0">
                <a:latin typeface="Times New Roman" charset="0"/>
                <a:ea typeface="ＭＳ Ｐゴシック" charset="0"/>
              </a:rPr>
              <a:t> the language?</a:t>
            </a:r>
          </a:p>
          <a:p>
            <a:pPr marL="382588">
              <a:defRPr/>
            </a:pPr>
            <a:r>
              <a:rPr lang="en-US" dirty="0">
                <a:latin typeface="Times New Roman" charset="0"/>
                <a:ea typeface="ＭＳ Ｐゴシック" charset="0"/>
              </a:rPr>
              <a:t>As we saw, </a:t>
            </a:r>
            <a:r>
              <a:rPr lang="en-US" sz="3200" dirty="0">
                <a:latin typeface="Times New Roman" charset="0"/>
                <a:ea typeface="ＭＳ Ｐゴシック" charset="0"/>
              </a:rPr>
              <a:t>he ordering of the database and the left-to-right pursuit of sub-goals gives a deterministic imperative semantics to searching and backtracking.</a:t>
            </a:r>
          </a:p>
          <a:p>
            <a:pPr marL="782638" lvl="1">
              <a:defRPr/>
            </a:pPr>
            <a:r>
              <a:rPr lang="en-US" sz="2800" dirty="0">
                <a:latin typeface="Times New Roman" charset="0"/>
                <a:ea typeface="ＭＳ Ｐゴシック" charset="0"/>
              </a:rPr>
              <a:t>If it were purely declarative, then “truth” would not depend on ordering in the code.</a:t>
            </a:r>
          </a:p>
        </p:txBody>
      </p:sp>
    </p:spTree>
    <p:extLst>
      <p:ext uri="{BB962C8B-B14F-4D97-AF65-F5344CB8AC3E}">
        <p14:creationId xmlns:p14="http://schemas.microsoft.com/office/powerpoint/2010/main" val="1512253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Imperative Control Flow</a:t>
            </a:r>
          </a:p>
        </p:txBody>
      </p:sp>
      <p:sp>
        <p:nvSpPr>
          <p:cNvPr id="26633" name="Rectangle 9"/>
          <p:cNvSpPr>
            <a:spLocks noGrp="1" noChangeArrowheads="1"/>
          </p:cNvSpPr>
          <p:nvPr>
            <p:ph type="body" idx="4294967295"/>
          </p:nvPr>
        </p:nvSpPr>
        <p:spPr>
          <a:xfrm>
            <a:off x="279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normAutofit fontScale="85000" lnSpcReduction="20000"/>
          </a:bodyPr>
          <a:lstStyle/>
          <a:p>
            <a:pPr eaLnBrk="1" hangingPunct="1">
              <a:lnSpc>
                <a:spcPct val="90000"/>
              </a:lnSpc>
              <a:defRPr/>
            </a:pPr>
            <a:r>
              <a:rPr lang="en-US" sz="3000" dirty="0">
                <a:latin typeface="Times New Roman" charset="0"/>
                <a:ea typeface="ＭＳ Ｐゴシック" charset="0"/>
              </a:rPr>
              <a:t>We can use this to actually alter the flow of control!  Recall this example:</a:t>
            </a:r>
            <a:br>
              <a:rPr lang="en-US" dirty="0">
                <a:latin typeface="Times New Roman" charset="0"/>
                <a:ea typeface="ＭＳ Ｐゴシック" charset="0"/>
              </a:rPr>
            </a:br>
            <a:r>
              <a:rPr lang="en-US" dirty="0">
                <a:latin typeface="Courier New" charset="0"/>
                <a:ea typeface="ＭＳ Ｐゴシック" charset="0"/>
                <a:cs typeface="Courier New" charset="0"/>
                <a:sym typeface="Courier New" charset="0"/>
              </a:rPr>
              <a:t>   </a:t>
            </a:r>
            <a:r>
              <a:rPr lang="en-US" sz="2600" dirty="0">
                <a:latin typeface="Courier New" charset="0"/>
                <a:ea typeface="ＭＳ Ｐゴシック" charset="0"/>
                <a:cs typeface="Courier New" charset="0"/>
                <a:sym typeface="Courier New" charset="0"/>
              </a:rPr>
              <a:t>member(X, [X | _]).</a:t>
            </a:r>
            <a:br>
              <a:rPr lang="en-US" sz="2600" dirty="0">
                <a:latin typeface="Courier New" charset="0"/>
                <a:ea typeface="ＭＳ Ｐゴシック" charset="0"/>
                <a:sym typeface="Courier New" charset="0"/>
              </a:rPr>
            </a:br>
            <a:r>
              <a:rPr lang="en-US" sz="2600" dirty="0">
                <a:latin typeface="Courier New" charset="0"/>
                <a:ea typeface="ＭＳ Ｐゴシック" charset="0"/>
                <a:cs typeface="Courier New" charset="0"/>
                <a:sym typeface="Courier New" charset="0"/>
              </a:rPr>
              <a:t>    member(X, [_ | T]) := member(X,T).</a:t>
            </a:r>
          </a:p>
          <a:p>
            <a:pPr lvl="1">
              <a:lnSpc>
                <a:spcPct val="90000"/>
              </a:lnSpc>
              <a:defRPr/>
            </a:pPr>
            <a:r>
              <a:rPr lang="en-US" sz="2200" dirty="0">
                <a:latin typeface="Courier New" charset="0"/>
                <a:ea typeface="ＭＳ Ｐゴシック" charset="0"/>
                <a:sym typeface="Courier New" charset="0"/>
              </a:rPr>
              <a:t>Truth:: All facts about it</a:t>
            </a:r>
          </a:p>
          <a:p>
            <a:pPr lvl="1">
              <a:lnSpc>
                <a:spcPct val="90000"/>
              </a:lnSpc>
              <a:defRPr/>
            </a:pPr>
            <a:r>
              <a:rPr lang="en-US" sz="2200" dirty="0">
                <a:latin typeface="Courier New" charset="0"/>
                <a:ea typeface="ＭＳ Ｐゴシック" charset="0"/>
                <a:sym typeface="Courier New" charset="0"/>
              </a:rPr>
              <a:t>Set cause theory::relation C</a:t>
            </a:r>
          </a:p>
          <a:p>
            <a:pPr lvl="1">
              <a:lnSpc>
                <a:spcPct val="90000"/>
              </a:lnSpc>
              <a:defRPr/>
            </a:pPr>
            <a:r>
              <a:rPr lang="en-US" altLang="zh-TW" sz="2200" dirty="0">
                <a:latin typeface="Courier New" charset="0"/>
                <a:ea typeface="ＭＳ Ｐゴシック" charset="0"/>
                <a:sym typeface="Courier New" charset="0"/>
              </a:rPr>
              <a:t>Logic::</a:t>
            </a:r>
            <a:r>
              <a:rPr lang="zh-TW" altLang="en-US" sz="2200" dirty="0">
                <a:latin typeface="Courier New" charset="0"/>
                <a:ea typeface="ＭＳ Ｐゴシック" charset="0"/>
                <a:sym typeface="Courier New" charset="0"/>
              </a:rPr>
              <a:t>傳</a:t>
            </a:r>
            <a:r>
              <a:rPr lang="en-US" altLang="zh-TW" sz="2200" dirty="0">
                <a:latin typeface="Courier New" charset="0"/>
                <a:ea typeface="ＭＳ Ｐゴシック" charset="0"/>
                <a:sym typeface="Courier New" charset="0"/>
              </a:rPr>
              <a:t>true</a:t>
            </a:r>
            <a:r>
              <a:rPr lang="zh-TW" altLang="en-US" sz="2200" dirty="0">
                <a:latin typeface="Courier New" charset="0"/>
                <a:ea typeface="ＭＳ Ｐゴシック" charset="0"/>
                <a:sym typeface="Courier New" charset="0"/>
              </a:rPr>
              <a:t>的子集合</a:t>
            </a:r>
            <a:endParaRPr lang="en-US" altLang="zh-TW" sz="2200" dirty="0">
              <a:latin typeface="Courier New" charset="0"/>
              <a:ea typeface="ＭＳ Ｐゴシック" charset="0"/>
              <a:sym typeface="Courier New" charset="0"/>
            </a:endParaRPr>
          </a:p>
          <a:p>
            <a:pPr lvl="1">
              <a:lnSpc>
                <a:spcPct val="90000"/>
              </a:lnSpc>
              <a:defRPr/>
            </a:pPr>
            <a:r>
              <a:rPr lang="zh-TW" altLang="en-US" sz="2200" b="1" dirty="0">
                <a:solidFill>
                  <a:srgbClr val="00B050"/>
                </a:solidFill>
                <a:latin typeface="Courier New" charset="0"/>
                <a:ea typeface="ＭＳ Ｐゴシック" charset="0"/>
                <a:sym typeface="Courier New" charset="0"/>
              </a:rPr>
              <a:t>取</a:t>
            </a:r>
            <a:r>
              <a:rPr lang="en-US" altLang="zh-TW" sz="2200" b="1" dirty="0">
                <a:solidFill>
                  <a:srgbClr val="00B050"/>
                </a:solidFill>
                <a:latin typeface="Courier New" charset="0"/>
                <a:ea typeface="ＭＳ Ｐゴシック" charset="0"/>
                <a:sym typeface="Courier New" charset="0"/>
              </a:rPr>
              <a:t>goal</a:t>
            </a:r>
            <a:r>
              <a:rPr lang="zh-TW" altLang="en-US" sz="2200" b="1" dirty="0">
                <a:solidFill>
                  <a:srgbClr val="00B050"/>
                </a:solidFill>
                <a:latin typeface="Courier New" charset="0"/>
                <a:ea typeface="ＭＳ Ｐゴシック" charset="0"/>
                <a:sym typeface="Courier New" charset="0"/>
              </a:rPr>
              <a:t>的</a:t>
            </a:r>
            <a:r>
              <a:rPr lang="en-US" altLang="zh-TW" sz="2200" b="1" dirty="0">
                <a:solidFill>
                  <a:srgbClr val="00B050"/>
                </a:solidFill>
                <a:latin typeface="Courier New" charset="0"/>
                <a:ea typeface="ＭＳ Ｐゴシック" charset="0"/>
                <a:sym typeface="Courier New" charset="0"/>
              </a:rPr>
              <a:t>resolution rule</a:t>
            </a:r>
          </a:p>
          <a:p>
            <a:pPr lvl="1">
              <a:lnSpc>
                <a:spcPct val="90000"/>
              </a:lnSpc>
              <a:defRPr/>
            </a:pPr>
            <a:r>
              <a:rPr lang="en-US" sz="2200" dirty="0">
                <a:latin typeface="Courier New" charset="0"/>
                <a:ea typeface="ＭＳ Ｐゴシック" charset="0"/>
                <a:sym typeface="Courier New" charset="0"/>
              </a:rPr>
              <a:t>Procedure interpretation</a:t>
            </a:r>
          </a:p>
          <a:p>
            <a:pPr eaLnBrk="1" hangingPunct="1">
              <a:lnSpc>
                <a:spcPct val="90000"/>
              </a:lnSpc>
              <a:defRPr/>
            </a:pPr>
            <a:r>
              <a:rPr lang="en-US" sz="3000" dirty="0">
                <a:latin typeface="Times New Roman" charset="0"/>
                <a:ea typeface="ＭＳ Ｐゴシック" charset="0"/>
              </a:rPr>
              <a:t>If a given atom a is in the list n times, the the goal </a:t>
            </a:r>
            <a:r>
              <a:rPr lang="en-US" sz="3000" dirty="0">
                <a:latin typeface="Courier New" charset="0"/>
                <a:ea typeface="ＭＳ Ｐゴシック" charset="0"/>
                <a:cs typeface="Courier New" charset="0"/>
                <a:sym typeface="Courier New" charset="0"/>
              </a:rPr>
              <a:t>?- member(</a:t>
            </a:r>
            <a:r>
              <a:rPr lang="en-US" sz="3000" dirty="0" err="1">
                <a:latin typeface="Courier New" charset="0"/>
                <a:ea typeface="ＭＳ Ｐゴシック" charset="0"/>
                <a:cs typeface="Courier New" charset="0"/>
                <a:sym typeface="Courier New" charset="0"/>
              </a:rPr>
              <a:t>a,L</a:t>
            </a:r>
            <a:r>
              <a:rPr lang="en-US" sz="3000" dirty="0">
                <a:latin typeface="Courier New" charset="0"/>
                <a:ea typeface="ＭＳ Ｐゴシック" charset="0"/>
                <a:cs typeface="Courier New" charset="0"/>
                <a:sym typeface="Courier New" charset="0"/>
              </a:rPr>
              <a:t>)</a:t>
            </a:r>
            <a:r>
              <a:rPr lang="en-US" sz="3000" dirty="0">
                <a:latin typeface="Times New Roman" charset="0"/>
                <a:ea typeface="ＭＳ Ｐゴシック" charset="0"/>
              </a:rPr>
              <a:t>can succeed n times.</a:t>
            </a:r>
          </a:p>
          <a:p>
            <a:pPr lvl="1">
              <a:lnSpc>
                <a:spcPct val="90000"/>
              </a:lnSpc>
              <a:defRPr/>
            </a:pPr>
            <a:r>
              <a:rPr lang="en-US" sz="2600" dirty="0">
                <a:latin typeface="Times New Roman" charset="0"/>
                <a:ea typeface="ＭＳ Ｐゴシック" charset="0"/>
              </a:rPr>
              <a:t>Goal ::member(</a:t>
            </a:r>
            <a:r>
              <a:rPr lang="en-US" sz="2600" dirty="0" err="1">
                <a:latin typeface="Times New Roman" charset="0"/>
                <a:ea typeface="ＭＳ Ｐゴシック" charset="0"/>
              </a:rPr>
              <a:t>a,L</a:t>
            </a:r>
            <a:r>
              <a:rPr lang="en-US" sz="2600" dirty="0">
                <a:latin typeface="Times New Roman" charset="0"/>
                <a:ea typeface="ＭＳ Ｐゴシック" charset="0"/>
              </a:rPr>
              <a:t>)</a:t>
            </a:r>
            <a:r>
              <a:rPr lang="zh-TW" altLang="en-US" sz="2600" dirty="0">
                <a:latin typeface="Times New Roman" charset="0"/>
                <a:ea typeface="ＭＳ Ｐゴシック" charset="0"/>
              </a:rPr>
              <a:t>在搜尋樹裡</a:t>
            </a:r>
            <a:r>
              <a:rPr lang="en-US" sz="2600" dirty="0">
                <a:latin typeface="Times New Roman" charset="0"/>
                <a:ea typeface="ＭＳ Ｐゴシック" charset="0"/>
              </a:rPr>
              <a:t>  </a:t>
            </a:r>
          </a:p>
          <a:p>
            <a:pPr eaLnBrk="1" hangingPunct="1">
              <a:lnSpc>
                <a:spcPct val="90000"/>
              </a:lnSpc>
              <a:defRPr/>
            </a:pPr>
            <a:r>
              <a:rPr lang="en-US" sz="3000" dirty="0">
                <a:latin typeface="Times New Roman" charset="0"/>
                <a:ea typeface="ＭＳ Ｐゴシック" charset="0"/>
              </a:rPr>
              <a:t>This can be very inefficient, since we </a:t>
            </a:r>
            <a:r>
              <a:rPr lang="en-US" sz="3000" b="1" dirty="0">
                <a:solidFill>
                  <a:srgbClr val="00B050"/>
                </a:solidFill>
                <a:latin typeface="Times New Roman" charset="0"/>
                <a:ea typeface="ＭＳ Ｐゴシック" charset="0"/>
              </a:rPr>
              <a:t>may have some other goal</a:t>
            </a:r>
            <a:r>
              <a:rPr lang="en-US" sz="3000" dirty="0">
                <a:latin typeface="Times New Roman" charset="0"/>
                <a:ea typeface="ＭＳ Ｐゴシック" charset="0"/>
              </a:rPr>
              <a:t> to satisfy that could fail:</a:t>
            </a:r>
          </a:p>
          <a:p>
            <a:pPr marL="742950" lvl="1" eaLnBrk="1" hangingPunct="1">
              <a:lnSpc>
                <a:spcPct val="90000"/>
              </a:lnSpc>
              <a:buFont typeface="Times New Roman" charset="0"/>
              <a:buNone/>
              <a:defRPr/>
            </a:pPr>
            <a:r>
              <a:rPr lang="en-US" sz="2600" dirty="0" err="1">
                <a:latin typeface="Courier New" charset="0"/>
                <a:ea typeface="ＭＳ Ｐゴシック" charset="0"/>
                <a:cs typeface="Courier New" charset="0"/>
                <a:sym typeface="Courier New" charset="0"/>
              </a:rPr>
              <a:t>prime_candidate</a:t>
            </a:r>
            <a:r>
              <a:rPr lang="en-US" sz="2600" dirty="0">
                <a:latin typeface="Courier New" charset="0"/>
                <a:ea typeface="ＭＳ Ｐゴシック" charset="0"/>
                <a:cs typeface="Courier New" charset="0"/>
                <a:sym typeface="Courier New" charset="0"/>
              </a:rPr>
              <a:t>(X) := member(X, candidates),prime(X).</a:t>
            </a:r>
          </a:p>
          <a:p>
            <a:pPr marL="742950" lvl="1" eaLnBrk="1" hangingPunct="1">
              <a:lnSpc>
                <a:spcPct val="90000"/>
              </a:lnSpc>
              <a:buFont typeface="Times New Roman" charset="0"/>
              <a:buNone/>
              <a:defRPr/>
            </a:pPr>
            <a:r>
              <a:rPr lang="en-US" dirty="0">
                <a:latin typeface="Times New Roman" charset="0"/>
                <a:ea typeface="ＭＳ Ｐゴシック" charset="0"/>
              </a:rPr>
              <a:t>(Here, if a is in the list of candidates more than once, we’ll waste time checking for it that number of times, when we already </a:t>
            </a:r>
            <a:r>
              <a:rPr lang="ja-JP" altLang="en-US" dirty="0">
                <a:latin typeface="Times New Roman" charset="0"/>
                <a:ea typeface="ＭＳ Ｐゴシック" charset="0"/>
              </a:rPr>
              <a:t>“</a:t>
            </a:r>
            <a:r>
              <a:rPr lang="en-US" dirty="0">
                <a:latin typeface="Times New Roman" charset="0"/>
                <a:ea typeface="ＭＳ Ｐゴシック" charset="0"/>
              </a:rPr>
              <a:t>know</a:t>
            </a:r>
            <a:r>
              <a:rPr lang="ja-JP" altLang="en-US" dirty="0">
                <a:latin typeface="Times New Roman" charset="0"/>
                <a:ea typeface="ＭＳ Ｐゴシック" charset="0"/>
              </a:rPr>
              <a:t>”</a:t>
            </a:r>
            <a:r>
              <a:rPr lang="en-US" dirty="0">
                <a:latin typeface="Times New Roman" charset="0"/>
                <a:ea typeface="ＭＳ Ｐゴシック" charset="0"/>
              </a:rPr>
              <a:t> that prime(a) will just fail.)</a:t>
            </a:r>
          </a:p>
        </p:txBody>
      </p:sp>
    </p:spTree>
    <p:extLst>
      <p:ext uri="{BB962C8B-B14F-4D97-AF65-F5344CB8AC3E}">
        <p14:creationId xmlns:p14="http://schemas.microsoft.com/office/powerpoint/2010/main" val="840460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p:cNvSpPr>
          <p:nvPr/>
        </p:nvSpPr>
        <p:spPr bwMode="auto">
          <a:xfrm>
            <a:off x="0" y="6781800"/>
            <a:ext cx="8991600" cy="76200"/>
          </a:xfrm>
          <a:prstGeom prst="rect">
            <a:avLst/>
          </a:prstGeom>
          <a:solidFill>
            <a:srgbClr val="B2B2B4"/>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lIns="0" tIns="0" rIns="0" bIns="0"/>
          <a:lstStyle/>
          <a:p>
            <a:endParaRPr lang="en-US"/>
          </a:p>
        </p:txBody>
      </p:sp>
      <p:sp>
        <p:nvSpPr>
          <p:cNvPr id="20483" name="Rectangle 3"/>
          <p:cNvSpPr>
            <a:spLocks/>
          </p:cNvSpPr>
          <p:nvPr/>
        </p:nvSpPr>
        <p:spPr bwMode="auto">
          <a:xfrm>
            <a:off x="8001000" y="6781800"/>
            <a:ext cx="1143000" cy="76200"/>
          </a:xfrm>
          <a:prstGeom prst="rect">
            <a:avLst/>
          </a:prstGeom>
          <a:solidFill>
            <a:srgbClr val="FF9900"/>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lIns="0" tIns="0" rIns="0" bIns="0"/>
          <a:lstStyle/>
          <a:p>
            <a:endParaRPr lang="en-US"/>
          </a:p>
        </p:txBody>
      </p:sp>
      <p:sp>
        <p:nvSpPr>
          <p:cNvPr id="20485"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Control flow - the cut</a:t>
            </a: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r>
              <a:rPr lang="en-US" dirty="0">
                <a:latin typeface="Times New Roman" charset="0"/>
                <a:ea typeface="ＭＳ Ｐゴシック" charset="0"/>
              </a:rPr>
              <a:t>We can save time by cutting off all future searches for a after the first time it is found:</a:t>
            </a:r>
            <a:br>
              <a:rPr lang="en-US" dirty="0">
                <a:latin typeface="Times New Roman" charset="0"/>
                <a:ea typeface="ＭＳ Ｐゴシック" charset="0"/>
              </a:rPr>
            </a:br>
            <a:r>
              <a:rPr lang="en-US" dirty="0">
                <a:latin typeface="Courier New" charset="0"/>
                <a:ea typeface="ＭＳ Ｐゴシック" charset="0"/>
                <a:cs typeface="Courier New" charset="0"/>
                <a:sym typeface="Courier New" charset="0"/>
              </a:rPr>
              <a:t>    </a:t>
            </a:r>
            <a:r>
              <a:rPr lang="en-US" sz="2800" dirty="0">
                <a:latin typeface="Courier New" charset="0"/>
                <a:ea typeface="ＭＳ Ｐゴシック" charset="0"/>
                <a:cs typeface="Courier New" charset="0"/>
                <a:sym typeface="Courier New" charset="0"/>
              </a:rPr>
              <a:t>member(X, [X | _]) :- !.</a:t>
            </a:r>
            <a:br>
              <a:rPr lang="en-US" sz="2800" dirty="0">
                <a:latin typeface="Courier New" charset="0"/>
                <a:ea typeface="ＭＳ Ｐゴシック" charset="0"/>
                <a:sym typeface="Courier New" charset="0"/>
              </a:rPr>
            </a:br>
            <a:r>
              <a:rPr lang="en-US" sz="2800" dirty="0">
                <a:latin typeface="Courier New" charset="0"/>
                <a:ea typeface="ＭＳ Ｐゴシック" charset="0"/>
                <a:cs typeface="Courier New" charset="0"/>
                <a:sym typeface="Courier New" charset="0"/>
              </a:rPr>
              <a:t>    member(X, [_ | T]) := member(X,T).</a:t>
            </a:r>
            <a:endParaRPr lang="en-US" sz="2800" dirty="0">
              <a:latin typeface="Courier New" charset="0"/>
              <a:ea typeface="ＭＳ Ｐゴシック" charset="0"/>
              <a:sym typeface="Courier New" charset="0"/>
            </a:endParaRPr>
          </a:p>
          <a:p>
            <a:pPr eaLnBrk="1" hangingPunct="1">
              <a:lnSpc>
                <a:spcPct val="90000"/>
              </a:lnSpc>
              <a:defRPr/>
            </a:pPr>
            <a:r>
              <a:rPr lang="en-US" dirty="0">
                <a:latin typeface="Times New Roman" charset="0"/>
                <a:ea typeface="ＭＳ Ｐゴシック" charset="0"/>
              </a:rPr>
              <a:t>The cut is the ! on the right hand side.  This says that if X is the head of L, we should not attempt to unify </a:t>
            </a:r>
            <a:r>
              <a:rPr lang="en-US" dirty="0">
                <a:latin typeface="Courier New" charset="0"/>
                <a:ea typeface="ＭＳ Ｐゴシック" charset="0"/>
                <a:cs typeface="Courier New" charset="0"/>
                <a:sym typeface="Courier New" charset="0"/>
              </a:rPr>
              <a:t>member(X,L)</a:t>
            </a:r>
            <a:r>
              <a:rPr lang="en-US" dirty="0">
                <a:latin typeface="Times New Roman" charset="0"/>
                <a:ea typeface="ＭＳ Ｐゴシック" charset="0"/>
              </a:rPr>
              <a:t>with the left-hand side of the second rule.  Essentially, the cut forces us to commit to the first rule only.</a:t>
            </a:r>
          </a:p>
        </p:txBody>
      </p:sp>
    </p:spTree>
    <p:extLst>
      <p:ext uri="{BB962C8B-B14F-4D97-AF65-F5344CB8AC3E}">
        <p14:creationId xmlns:p14="http://schemas.microsoft.com/office/powerpoint/2010/main" val="716793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Control flow: \=</a:t>
            </a: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r>
              <a:rPr lang="en-US" dirty="0">
                <a:latin typeface="Times New Roman" charset="0"/>
                <a:ea typeface="ＭＳ Ｐゴシック" charset="0"/>
              </a:rPr>
              <a:t>Another option is to force the first element of the list to not be equal to X in the second rule:</a:t>
            </a:r>
            <a:br>
              <a:rPr lang="en-US" dirty="0">
                <a:latin typeface="Times New Roman" charset="0"/>
                <a:ea typeface="ＭＳ Ｐゴシック" charset="0"/>
              </a:rPr>
            </a:br>
            <a:r>
              <a:rPr lang="en-US" dirty="0">
                <a:latin typeface="Courier New" charset="0"/>
                <a:ea typeface="ＭＳ Ｐゴシック" charset="0"/>
                <a:cs typeface="Courier New" charset="0"/>
                <a:sym typeface="Courier New" charset="0"/>
              </a:rPr>
              <a:t>    member(X, [X | _]) :- !.</a:t>
            </a:r>
            <a:br>
              <a:rPr lang="en-US" dirty="0">
                <a:latin typeface="Courier New" charset="0"/>
                <a:ea typeface="ＭＳ Ｐゴシック" charset="0"/>
                <a:sym typeface="Courier New" charset="0"/>
              </a:rPr>
            </a:br>
            <a:r>
              <a:rPr lang="en-US" dirty="0">
                <a:latin typeface="Courier New" charset="0"/>
                <a:ea typeface="ＭＳ Ｐゴシック" charset="0"/>
                <a:cs typeface="Courier New" charset="0"/>
                <a:sym typeface="Courier New" charset="0"/>
              </a:rPr>
              <a:t>    member(X, [H | T]) := X \= H, 						member(X,T).</a:t>
            </a:r>
            <a:endParaRPr lang="en-US" dirty="0">
              <a:latin typeface="Courier New" charset="0"/>
              <a:ea typeface="ＭＳ Ｐゴシック" charset="0"/>
              <a:sym typeface="Courier New" charset="0"/>
            </a:endParaRPr>
          </a:p>
          <a:p>
            <a:pPr eaLnBrk="1" hangingPunct="1">
              <a:lnSpc>
                <a:spcPct val="90000"/>
              </a:lnSpc>
              <a:defRPr/>
            </a:pPr>
            <a:r>
              <a:rPr lang="en-US" dirty="0">
                <a:latin typeface="Times New Roman" charset="0"/>
                <a:ea typeface="ＭＳ Ｐゴシック" charset="0"/>
              </a:rPr>
              <a:t>The statement </a:t>
            </a:r>
            <a:r>
              <a:rPr lang="en-US" dirty="0">
                <a:latin typeface="Courier New" charset="0"/>
                <a:ea typeface="ＭＳ Ｐゴシック" charset="0"/>
                <a:cs typeface="Courier New" charset="0"/>
                <a:sym typeface="Courier New" charset="0"/>
              </a:rPr>
              <a:t>X \= H</a:t>
            </a:r>
            <a:r>
              <a:rPr lang="en-US" dirty="0">
                <a:latin typeface="Times New Roman" charset="0"/>
                <a:ea typeface="ＭＳ Ｐゴシック" charset="0"/>
              </a:rPr>
              <a:t>  is equivalent to the statement </a:t>
            </a:r>
            <a:r>
              <a:rPr lang="en-US" dirty="0">
                <a:latin typeface="Courier New" charset="0"/>
                <a:ea typeface="ＭＳ Ｐゴシック" charset="0"/>
                <a:cs typeface="Courier New" charset="0"/>
                <a:sym typeface="Courier New" charset="0"/>
              </a:rPr>
              <a:t>\+(X = H)</a:t>
            </a:r>
            <a:r>
              <a:rPr lang="en-US" dirty="0">
                <a:latin typeface="Times New Roman" charset="0"/>
                <a:ea typeface="ＭＳ Ｐゴシック" charset="0"/>
              </a:rPr>
              <a:t>.  In essence, \+ is a bit like a not (which is how it is written in some versions of Prolog).</a:t>
            </a:r>
          </a:p>
        </p:txBody>
      </p:sp>
    </p:spTree>
    <p:extLst>
      <p:ext uri="{BB962C8B-B14F-4D97-AF65-F5344CB8AC3E}">
        <p14:creationId xmlns:p14="http://schemas.microsoft.com/office/powerpoint/2010/main" val="2385516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Control flow: back to the cut</a:t>
            </a: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normAutofit/>
          </a:bodyPr>
          <a:lstStyle/>
          <a:p>
            <a:pPr>
              <a:lnSpc>
                <a:spcPct val="90000"/>
              </a:lnSpc>
              <a:defRPr/>
            </a:pPr>
            <a:r>
              <a:rPr lang="en-US" dirty="0">
                <a:latin typeface="Times New Roman" charset="0"/>
                <a:ea typeface="ＭＳ Ｐゴシック" charset="0"/>
              </a:rPr>
              <a:t>One really interesting use of ! is as an equivalent to if-then-else statements:</a:t>
            </a:r>
            <a:br>
              <a:rPr lang="en-US" dirty="0">
                <a:latin typeface="Times New Roman" charset="0"/>
                <a:ea typeface="ＭＳ Ｐゴシック" charset="0"/>
              </a:rPr>
            </a:br>
            <a:r>
              <a:rPr lang="en-US" sz="2800" dirty="0">
                <a:latin typeface="Courier New" charset="0"/>
                <a:ea typeface="ＭＳ Ｐゴシック" charset="0"/>
                <a:cs typeface="Courier New" charset="0"/>
                <a:sym typeface="Courier New" charset="0"/>
              </a:rPr>
              <a:t>statement := condition, !, </a:t>
            </a:r>
            <a:r>
              <a:rPr lang="en-US" sz="2800" dirty="0" err="1">
                <a:latin typeface="Courier New" charset="0"/>
                <a:ea typeface="ＭＳ Ｐゴシック" charset="0"/>
                <a:cs typeface="Courier New" charset="0"/>
                <a:sym typeface="Courier New" charset="0"/>
              </a:rPr>
              <a:t>then_part</a:t>
            </a:r>
            <a:r>
              <a:rPr lang="en-US" sz="2800" dirty="0">
                <a:latin typeface="Courier New" charset="0"/>
                <a:ea typeface="ＭＳ Ｐゴシック" charset="0"/>
                <a:cs typeface="Courier New" charset="0"/>
                <a:sym typeface="Courier New" charset="0"/>
              </a:rPr>
              <a:t>.     statement := </a:t>
            </a:r>
            <a:r>
              <a:rPr lang="en-US" sz="2800" dirty="0" err="1">
                <a:latin typeface="Courier New" charset="0"/>
                <a:ea typeface="ＭＳ Ｐゴシック" charset="0"/>
                <a:cs typeface="Courier New" charset="0"/>
                <a:sym typeface="Courier New" charset="0"/>
              </a:rPr>
              <a:t>else_part</a:t>
            </a:r>
            <a:r>
              <a:rPr lang="en-US" sz="2800" dirty="0">
                <a:latin typeface="Courier New" charset="0"/>
                <a:ea typeface="ＭＳ Ｐゴシック" charset="0"/>
                <a:cs typeface="Courier New" charset="0"/>
                <a:sym typeface="Courier New" charset="0"/>
              </a:rPr>
              <a:t>.</a:t>
            </a:r>
            <a:endParaRPr lang="en-US" sz="2800" dirty="0">
              <a:latin typeface="Courier New" charset="0"/>
              <a:ea typeface="ＭＳ Ｐゴシック" charset="0"/>
              <a:sym typeface="Courier New" charset="0"/>
            </a:endParaRPr>
          </a:p>
          <a:p>
            <a:pPr eaLnBrk="1" hangingPunct="1">
              <a:lnSpc>
                <a:spcPct val="90000"/>
              </a:lnSpc>
              <a:defRPr/>
            </a:pPr>
            <a:r>
              <a:rPr lang="en-US" dirty="0">
                <a:latin typeface="Times New Roman" charset="0"/>
                <a:ea typeface="ＭＳ Ｐゴシック" charset="0"/>
              </a:rPr>
              <a:t>Here, the cut commits us to the first part if condition is true, which means we will never go to the second rule.</a:t>
            </a:r>
          </a:p>
          <a:p>
            <a:pPr eaLnBrk="1" hangingPunct="1">
              <a:lnSpc>
                <a:spcPct val="90000"/>
              </a:lnSpc>
              <a:defRPr/>
            </a:pPr>
            <a:r>
              <a:rPr lang="en-US" dirty="0">
                <a:latin typeface="Times New Roman" charset="0"/>
                <a:ea typeface="ＭＳ Ｐゴシック" charset="0"/>
              </a:rPr>
              <a:t>However, if the condition comes back as false (i.e. no derivation is found to make it true), then we’ll move onto the second rule and try to find if it can be satisfied.</a:t>
            </a:r>
          </a:p>
        </p:txBody>
      </p:sp>
    </p:spTree>
    <p:extLst>
      <p:ext uri="{BB962C8B-B14F-4D97-AF65-F5344CB8AC3E}">
        <p14:creationId xmlns:p14="http://schemas.microsoft.com/office/powerpoint/2010/main" val="833874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normAutofit/>
          </a:bodyPr>
          <a:lstStyle/>
          <a:p>
            <a:pPr indent="0" eaLnBrk="1" hangingPunct="1">
              <a:defRPr/>
            </a:pPr>
            <a:r>
              <a:rPr lang="en-US" sz="3600" b="1" dirty="0">
                <a:latin typeface="Arial" charset="0"/>
                <a:ea typeface="Arial" charset="0"/>
                <a:cs typeface="Arial" charset="0"/>
              </a:rPr>
              <a:t>Control flow: the fail predicate</a:t>
            </a: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normAutofit fontScale="92500"/>
          </a:bodyPr>
          <a:lstStyle/>
          <a:p>
            <a:pPr eaLnBrk="1" hangingPunct="1">
              <a:lnSpc>
                <a:spcPct val="90000"/>
              </a:lnSpc>
              <a:defRPr/>
            </a:pPr>
            <a:r>
              <a:rPr lang="en-US" dirty="0">
                <a:latin typeface="Times New Roman" charset="0"/>
                <a:ea typeface="ＭＳ Ｐゴシック" charset="0"/>
              </a:rPr>
              <a:t>The fail predicate always fails.</a:t>
            </a:r>
          </a:p>
          <a:p>
            <a:pPr eaLnBrk="1" hangingPunct="1">
              <a:lnSpc>
                <a:spcPct val="90000"/>
              </a:lnSpc>
              <a:defRPr/>
            </a:pPr>
            <a:r>
              <a:rPr lang="en-US" dirty="0">
                <a:latin typeface="Times New Roman" charset="0"/>
                <a:ea typeface="ＭＳ Ｐゴシック" charset="0"/>
              </a:rPr>
              <a:t>It can be quite useful to force certain actions.  For example, the \+ can be implemented using fail and !: 		=</a:t>
            </a:r>
            <a:r>
              <a:rPr lang="en-US" dirty="0">
                <a:latin typeface="Courier New" charset="0"/>
                <a:ea typeface="ＭＳ Ｐゴシック" charset="0"/>
                <a:cs typeface="Courier New" charset="0"/>
                <a:sym typeface="Courier New" charset="0"/>
              </a:rPr>
              <a:t>\+(X=H) :- (X=H), !, fail.</a:t>
            </a:r>
            <a:endParaRPr lang="en-US" dirty="0">
              <a:latin typeface="Courier New" charset="0"/>
              <a:ea typeface="ＭＳ Ｐゴシック" charset="0"/>
              <a:sym typeface="Courier New" charset="0"/>
            </a:endParaRPr>
          </a:p>
          <a:p>
            <a:pPr eaLnBrk="1" hangingPunct="1">
              <a:lnSpc>
                <a:spcPct val="90000"/>
              </a:lnSpc>
              <a:defRPr/>
            </a:pPr>
            <a:r>
              <a:rPr lang="en-US" dirty="0">
                <a:latin typeface="Times New Roman" charset="0"/>
                <a:ea typeface="ＭＳ Ｐゴシック" charset="0"/>
              </a:rPr>
              <a:t>It can also be used to generate a type of </a:t>
            </a:r>
            <a:r>
              <a:rPr lang="ja-JP" altLang="en-US" dirty="0">
                <a:latin typeface="Times New Roman" charset="0"/>
                <a:ea typeface="ＭＳ Ｐゴシック" charset="0"/>
              </a:rPr>
              <a:t>“</a:t>
            </a:r>
            <a:r>
              <a:rPr lang="en-US" dirty="0">
                <a:latin typeface="Times New Roman" charset="0"/>
                <a:ea typeface="ＭＳ Ｐゴシック" charset="0"/>
              </a:rPr>
              <a:t>looping</a:t>
            </a:r>
            <a:r>
              <a:rPr lang="ja-JP" altLang="en-US" dirty="0">
                <a:latin typeface="Times New Roman" charset="0"/>
                <a:ea typeface="ＭＳ Ｐゴシック" charset="0"/>
              </a:rPr>
              <a:t>”</a:t>
            </a:r>
            <a:r>
              <a:rPr lang="en-US" dirty="0">
                <a:latin typeface="Times New Roman" charset="0"/>
                <a:ea typeface="ＭＳ Ｐゴシック" charset="0"/>
              </a:rPr>
              <a:t> behavior.  As an example, recall our append code:</a:t>
            </a:r>
          </a:p>
          <a:p>
            <a:pPr eaLnBrk="1" hangingPunct="1">
              <a:lnSpc>
                <a:spcPct val="90000"/>
              </a:lnSpc>
              <a:buFont typeface="Times New Roman" charset="0"/>
              <a:buNone/>
              <a:defRPr/>
            </a:pPr>
            <a:r>
              <a:rPr lang="en-US" dirty="0">
                <a:latin typeface="Times New Roman" charset="0"/>
                <a:ea typeface="ＭＳ Ｐゴシック" charset="0"/>
              </a:rPr>
              <a:t>	</a:t>
            </a:r>
            <a:r>
              <a:rPr lang="en-US" sz="2600" dirty="0">
                <a:latin typeface="Courier New" charset="0"/>
                <a:ea typeface="ＭＳ Ｐゴシック" charset="0"/>
              </a:rPr>
              <a:t>append([], A, A). </a:t>
            </a:r>
          </a:p>
          <a:p>
            <a:pPr eaLnBrk="1" hangingPunct="1">
              <a:buFont typeface="Times New Roman" charset="0"/>
              <a:buNone/>
              <a:defRPr/>
            </a:pPr>
            <a:r>
              <a:rPr lang="en-US" sz="2600" dirty="0">
                <a:latin typeface="Courier New" charset="0"/>
                <a:ea typeface="ＭＳ Ｐゴシック" charset="0"/>
              </a:rPr>
              <a:t>	append([H | T], A, [H | L]) :- </a:t>
            </a:r>
          </a:p>
          <a:p>
            <a:pPr eaLnBrk="1" hangingPunct="1">
              <a:buFont typeface="Times New Roman" charset="0"/>
              <a:buNone/>
              <a:defRPr/>
            </a:pPr>
            <a:r>
              <a:rPr lang="en-US" sz="2600" dirty="0">
                <a:latin typeface="Courier New" charset="0"/>
                <a:ea typeface="ＭＳ Ｐゴシック" charset="0"/>
              </a:rPr>
              <a:t>											append(T, A, L).</a:t>
            </a:r>
          </a:p>
          <a:p>
            <a:pPr eaLnBrk="1" hangingPunct="1">
              <a:buFont typeface="Times New Roman" charset="0"/>
              <a:buNone/>
              <a:defRPr/>
            </a:pPr>
            <a:r>
              <a:rPr lang="en-US" dirty="0">
                <a:latin typeface="Times New Roman" charset="0"/>
                <a:ea typeface="ＭＳ Ｐゴシック" charset="0"/>
              </a:rPr>
              <a:t>   If we write append(A,B,L) where L is instantiated but A and B are not, we can use this to generate possible lists.</a:t>
            </a:r>
          </a:p>
        </p:txBody>
      </p:sp>
    </p:spTree>
    <p:extLst>
      <p:ext uri="{BB962C8B-B14F-4D97-AF65-F5344CB8AC3E}">
        <p14:creationId xmlns:p14="http://schemas.microsoft.com/office/powerpoint/2010/main" val="229604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Control flow: the fail predicate</a:t>
            </a:r>
          </a:p>
        </p:txBody>
      </p:sp>
      <p:sp>
        <p:nvSpPr>
          <p:cNvPr id="26633" name="Rectangle 9"/>
          <p:cNvSpPr>
            <a:spLocks noGrp="1" noChangeArrowheads="1"/>
          </p:cNvSpPr>
          <p:nvPr>
            <p:ph type="body" idx="4294967295"/>
          </p:nvPr>
        </p:nvSpPr>
        <p:spPr>
          <a:xfrm>
            <a:off x="381000" y="1401565"/>
            <a:ext cx="8763000" cy="49657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endParaRPr lang="en-US" sz="2400" dirty="0">
              <a:latin typeface="Times New Roman" charset="0"/>
              <a:ea typeface="ＭＳ Ｐゴシック" charset="0"/>
            </a:endParaRPr>
          </a:p>
          <a:p>
            <a:pPr eaLnBrk="1" hangingPunct="1">
              <a:lnSpc>
                <a:spcPct val="90000"/>
              </a:lnSpc>
              <a:defRPr/>
            </a:pPr>
            <a:r>
              <a:rPr lang="en-US" sz="2400" dirty="0">
                <a:latin typeface="Times New Roman" charset="0"/>
                <a:ea typeface="ＭＳ Ｐゴシック" charset="0"/>
              </a:rPr>
              <a:t>If we write append(A,B,L) where L is instantiated by A and B are not, we can use this to generate possible lists:</a:t>
            </a:r>
          </a:p>
          <a:p>
            <a:pPr eaLnBrk="1" hangingPunct="1">
              <a:lnSpc>
                <a:spcPct val="90000"/>
              </a:lnSpc>
              <a:buFont typeface="Times New Roman" charset="0"/>
              <a:buNone/>
              <a:defRPr/>
            </a:pPr>
            <a:r>
              <a:rPr lang="en-US" sz="2400" dirty="0">
                <a:latin typeface="Times New Roman" charset="0"/>
                <a:ea typeface="ＭＳ Ｐゴシック" charset="0"/>
              </a:rPr>
              <a:t>		 </a:t>
            </a:r>
            <a:r>
              <a:rPr lang="en-US" sz="2400" dirty="0" err="1">
                <a:latin typeface="Courier New" charset="0"/>
                <a:ea typeface="ＭＳ Ｐゴシック" charset="0"/>
              </a:rPr>
              <a:t>print_lists</a:t>
            </a:r>
            <a:r>
              <a:rPr lang="en-US" sz="2400" dirty="0">
                <a:latin typeface="Courier New" charset="0"/>
                <a:ea typeface="ＭＳ Ｐゴシック" charset="0"/>
              </a:rPr>
              <a:t>(L) :-</a:t>
            </a:r>
          </a:p>
          <a:p>
            <a:pPr eaLnBrk="1" hangingPunct="1">
              <a:lnSpc>
                <a:spcPct val="90000"/>
              </a:lnSpc>
              <a:buFont typeface="Times New Roman" charset="0"/>
              <a:buNone/>
              <a:defRPr/>
            </a:pPr>
            <a:r>
              <a:rPr lang="en-US" sz="2400" dirty="0">
                <a:latin typeface="Courier New" charset="0"/>
                <a:ea typeface="ＭＳ Ｐゴシック" charset="0"/>
              </a:rPr>
              <a:t>				append(A,B,L), write(A),</a:t>
            </a:r>
          </a:p>
          <a:p>
            <a:pPr eaLnBrk="1" hangingPunct="1">
              <a:lnSpc>
                <a:spcPct val="90000"/>
              </a:lnSpc>
              <a:buFont typeface="Times New Roman" charset="0"/>
              <a:buNone/>
              <a:defRPr/>
            </a:pPr>
            <a:r>
              <a:rPr lang="en-US" sz="2400" dirty="0">
                <a:latin typeface="Courier New" charset="0"/>
                <a:ea typeface="ＭＳ Ｐゴシック" charset="0"/>
              </a:rPr>
              <a:t>				write(</a:t>
            </a:r>
            <a:r>
              <a:rPr lang="ja-JP" altLang="en-US" sz="2400" dirty="0">
                <a:latin typeface="Courier New" charset="0"/>
                <a:ea typeface="ＭＳ Ｐゴシック" charset="0"/>
              </a:rPr>
              <a:t>‘</a:t>
            </a:r>
            <a:r>
              <a:rPr lang="en-US" sz="2400" dirty="0">
                <a:latin typeface="Courier New" charset="0"/>
                <a:ea typeface="ＭＳ Ｐゴシック" charset="0"/>
              </a:rPr>
              <a:t> </a:t>
            </a:r>
            <a:r>
              <a:rPr lang="ja-JP" altLang="en-US" sz="2400" dirty="0">
                <a:latin typeface="Courier New" charset="0"/>
                <a:ea typeface="ＭＳ Ｐゴシック" charset="0"/>
              </a:rPr>
              <a:t>‘</a:t>
            </a:r>
            <a:r>
              <a:rPr lang="en-US" sz="2400" dirty="0">
                <a:latin typeface="Courier New" charset="0"/>
                <a:ea typeface="ＭＳ Ｐゴシック" charset="0"/>
              </a:rPr>
              <a:t>), write(B), </a:t>
            </a:r>
          </a:p>
          <a:p>
            <a:pPr eaLnBrk="1" hangingPunct="1">
              <a:lnSpc>
                <a:spcPct val="90000"/>
              </a:lnSpc>
              <a:buFont typeface="Times New Roman" charset="0"/>
              <a:buNone/>
              <a:defRPr/>
            </a:pPr>
            <a:r>
              <a:rPr lang="en-US" sz="2400" dirty="0">
                <a:latin typeface="Courier New" charset="0"/>
                <a:ea typeface="ＭＳ Ｐゴシック" charset="0"/>
              </a:rPr>
              <a:t>				</a:t>
            </a:r>
            <a:r>
              <a:rPr lang="en-US" sz="2400" dirty="0" err="1">
                <a:latin typeface="Courier New" charset="0"/>
                <a:ea typeface="ＭＳ Ｐゴシック" charset="0"/>
              </a:rPr>
              <a:t>nl</a:t>
            </a:r>
            <a:r>
              <a:rPr lang="en-US" sz="2400" dirty="0">
                <a:latin typeface="Courier New" charset="0"/>
                <a:ea typeface="ＭＳ Ｐゴシック" charset="0"/>
              </a:rPr>
              <a:t>, fail.</a:t>
            </a:r>
            <a:endParaRPr lang="en-US" sz="2400" dirty="0">
              <a:latin typeface="Times New Roman" charset="0"/>
              <a:ea typeface="ＭＳ Ｐゴシック" charset="0"/>
            </a:endParaRPr>
          </a:p>
          <a:p>
            <a:pPr eaLnBrk="1" hangingPunct="1">
              <a:lnSpc>
                <a:spcPct val="90000"/>
              </a:lnSpc>
              <a:defRPr/>
            </a:pPr>
            <a:r>
              <a:rPr lang="en-US" sz="2400" dirty="0">
                <a:latin typeface="Times New Roman" charset="0"/>
                <a:ea typeface="ＭＳ Ｐゴシック" charset="0"/>
              </a:rPr>
              <a:t>The output if we call </a:t>
            </a:r>
            <a:r>
              <a:rPr lang="en-US" sz="2400" dirty="0" err="1">
                <a:latin typeface="Courier New" charset="0"/>
                <a:ea typeface="ＭＳ Ｐゴシック" charset="0"/>
              </a:rPr>
              <a:t>print_lists</a:t>
            </a:r>
            <a:r>
              <a:rPr lang="en-US" sz="2400" dirty="0">
                <a:latin typeface="Courier New" charset="0"/>
                <a:ea typeface="ＭＳ Ｐゴシック" charset="0"/>
              </a:rPr>
              <a:t>([a, b, c]) </a:t>
            </a:r>
            <a:r>
              <a:rPr lang="en-US" sz="2400" dirty="0">
                <a:latin typeface="Times New Roman" charset="0"/>
                <a:ea typeface="ＭＳ Ｐゴシック" charset="0"/>
              </a:rPr>
              <a:t>will be:</a:t>
            </a:r>
          </a:p>
          <a:p>
            <a:pPr marL="742950" lvl="1" eaLnBrk="1" hangingPunct="1">
              <a:lnSpc>
                <a:spcPct val="90000"/>
              </a:lnSpc>
              <a:buFont typeface="Times New Roman" charset="0"/>
              <a:buNone/>
              <a:defRPr/>
            </a:pPr>
            <a:r>
              <a:rPr lang="en-US" sz="2000" dirty="0">
                <a:latin typeface="Courier New" charset="0"/>
                <a:ea typeface="ＭＳ Ｐゴシック" charset="0"/>
              </a:rPr>
              <a:t>[] [a, b, c]</a:t>
            </a:r>
          </a:p>
          <a:p>
            <a:pPr marL="742950" lvl="1" eaLnBrk="1" hangingPunct="1">
              <a:lnSpc>
                <a:spcPct val="90000"/>
              </a:lnSpc>
              <a:buFont typeface="Times New Roman" charset="0"/>
              <a:buNone/>
              <a:defRPr/>
            </a:pPr>
            <a:r>
              <a:rPr lang="en-US" sz="2000" dirty="0">
                <a:latin typeface="Courier New" charset="0"/>
                <a:ea typeface="ＭＳ Ｐゴシック" charset="0"/>
              </a:rPr>
              <a:t>[a] [b, c]</a:t>
            </a:r>
          </a:p>
          <a:p>
            <a:pPr marL="742950" lvl="1" eaLnBrk="1" hangingPunct="1">
              <a:lnSpc>
                <a:spcPct val="90000"/>
              </a:lnSpc>
              <a:buFont typeface="Times New Roman" charset="0"/>
              <a:buNone/>
              <a:defRPr/>
            </a:pPr>
            <a:r>
              <a:rPr lang="en-US" sz="2000" dirty="0">
                <a:latin typeface="Courier New" charset="0"/>
                <a:ea typeface="ＭＳ Ｐゴシック" charset="0"/>
              </a:rPr>
              <a:t>[a, b] [c]</a:t>
            </a:r>
          </a:p>
          <a:p>
            <a:pPr marL="742950" lvl="1" eaLnBrk="1" hangingPunct="1">
              <a:lnSpc>
                <a:spcPct val="90000"/>
              </a:lnSpc>
              <a:buFont typeface="Times New Roman" charset="0"/>
              <a:buNone/>
              <a:defRPr/>
            </a:pPr>
            <a:r>
              <a:rPr lang="en-US" sz="2000" dirty="0">
                <a:latin typeface="Courier New" charset="0"/>
                <a:ea typeface="ＭＳ Ｐゴシック" charset="0"/>
              </a:rPr>
              <a:t>[a, b, c] []</a:t>
            </a:r>
          </a:p>
          <a:p>
            <a:pPr marL="742950" lvl="1" eaLnBrk="1" hangingPunct="1">
              <a:lnSpc>
                <a:spcPct val="90000"/>
              </a:lnSpc>
              <a:buFont typeface="Times New Roman" charset="0"/>
              <a:buNone/>
              <a:defRPr/>
            </a:pPr>
            <a:r>
              <a:rPr lang="en-US" sz="2000" dirty="0">
                <a:latin typeface="Courier New" charset="0"/>
                <a:ea typeface="ＭＳ Ｐゴシック" charset="0"/>
              </a:rPr>
              <a:t>No</a:t>
            </a:r>
          </a:p>
          <a:p>
            <a:pPr marL="742950" lvl="1" eaLnBrk="1" hangingPunct="1">
              <a:lnSpc>
                <a:spcPct val="90000"/>
              </a:lnSpc>
              <a:buFont typeface="Times New Roman" charset="0"/>
              <a:buNone/>
              <a:defRPr/>
            </a:pPr>
            <a:endParaRPr lang="en-US" sz="2000" dirty="0">
              <a:latin typeface="Times New Roman" charset="0"/>
              <a:ea typeface="ＭＳ Ｐゴシック" charset="0"/>
            </a:endParaRPr>
          </a:p>
        </p:txBody>
      </p:sp>
    </p:spTree>
    <p:extLst>
      <p:ext uri="{BB962C8B-B14F-4D97-AF65-F5344CB8AC3E}">
        <p14:creationId xmlns:p14="http://schemas.microsoft.com/office/powerpoint/2010/main" val="3139157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Looping and unbounded generators</a:t>
            </a:r>
          </a:p>
        </p:txBody>
      </p:sp>
      <p:sp>
        <p:nvSpPr>
          <p:cNvPr id="26633" name="Rectangle 9"/>
          <p:cNvSpPr>
            <a:spLocks noGrp="1" noChangeArrowheads="1"/>
          </p:cNvSpPr>
          <p:nvPr>
            <p:ph type="body" idx="4294967295"/>
          </p:nvPr>
        </p:nvSpPr>
        <p:spPr>
          <a:xfrm>
            <a:off x="279400" y="1046679"/>
            <a:ext cx="8763000" cy="6096000"/>
          </a:xfrm>
          <a:extLst>
            <a:ext uri="{91240B29-F687-4f45-9708-019B960494DF}">
              <a14:hiddenLine xmlns="" xmlns:a14="http://schemas.microsoft.com/office/drawing/2010/main" w="9525">
                <a:solidFill>
                  <a:schemeClr val="tx1"/>
                </a:solidFill>
                <a:miter lim="800000"/>
                <a:headEnd/>
                <a:tailEnd/>
              </a14:hiddenLine>
            </a:ext>
          </a:extLst>
        </p:spPr>
        <p:txBody>
          <a:bodyPr rIns="132080">
            <a:normAutofit fontScale="92500"/>
          </a:bodyPr>
          <a:lstStyle/>
          <a:p>
            <a:pPr eaLnBrk="1" hangingPunct="1">
              <a:lnSpc>
                <a:spcPct val="90000"/>
              </a:lnSpc>
              <a:defRPr/>
            </a:pPr>
            <a:endParaRPr lang="en-US" dirty="0">
              <a:latin typeface="Times New Roman" charset="0"/>
              <a:ea typeface="ＭＳ Ｐゴシック" charset="0"/>
            </a:endParaRPr>
          </a:p>
          <a:p>
            <a:pPr eaLnBrk="1" hangingPunct="1">
              <a:lnSpc>
                <a:spcPct val="90000"/>
              </a:lnSpc>
              <a:defRPr/>
            </a:pPr>
            <a:r>
              <a:rPr lang="en-US" dirty="0">
                <a:latin typeface="Times New Roman" charset="0"/>
                <a:ea typeface="ＭＳ Ｐゴシック" charset="0"/>
              </a:rPr>
              <a:t>The following generates all of the natural numbers:</a:t>
            </a:r>
          </a:p>
          <a:p>
            <a:pPr eaLnBrk="1" hangingPunct="1">
              <a:lnSpc>
                <a:spcPct val="90000"/>
              </a:lnSpc>
              <a:buFont typeface="Times New Roman" charset="0"/>
              <a:buNone/>
              <a:defRPr/>
            </a:pPr>
            <a:r>
              <a:rPr lang="en-US" dirty="0">
                <a:latin typeface="Times New Roman" charset="0"/>
                <a:ea typeface="ＭＳ Ｐゴシック" charset="0"/>
              </a:rPr>
              <a:t>		</a:t>
            </a:r>
            <a:r>
              <a:rPr lang="en-US" dirty="0">
                <a:latin typeface="Courier New" charset="0"/>
                <a:ea typeface="ＭＳ Ｐゴシック" charset="0"/>
              </a:rPr>
              <a:t>natural(1).</a:t>
            </a:r>
          </a:p>
          <a:p>
            <a:pPr eaLnBrk="1" hangingPunct="1">
              <a:lnSpc>
                <a:spcPct val="90000"/>
              </a:lnSpc>
              <a:buFont typeface="Times New Roman" charset="0"/>
              <a:buNone/>
              <a:defRPr/>
            </a:pPr>
            <a:r>
              <a:rPr lang="en-US" dirty="0">
                <a:latin typeface="Courier New" charset="0"/>
                <a:ea typeface="ＭＳ Ｐゴシック" charset="0"/>
              </a:rPr>
              <a:t>		natural(N) :- natural(M), N is M+1.</a:t>
            </a:r>
            <a:endParaRPr lang="en-US" dirty="0">
              <a:latin typeface="Times New Roman" charset="0"/>
              <a:ea typeface="ＭＳ Ｐゴシック" charset="0"/>
            </a:endParaRPr>
          </a:p>
          <a:p>
            <a:pPr eaLnBrk="1" hangingPunct="1">
              <a:lnSpc>
                <a:spcPct val="90000"/>
              </a:lnSpc>
              <a:defRPr/>
            </a:pPr>
            <a:r>
              <a:rPr lang="en-US" dirty="0">
                <a:latin typeface="Times New Roman" charset="0"/>
                <a:ea typeface="ＭＳ Ｐゴシック" charset="0"/>
              </a:rPr>
              <a:t>We can then use this to print out the first n numbers:</a:t>
            </a:r>
          </a:p>
          <a:p>
            <a:pPr marL="742950" lvl="1" eaLnBrk="1" hangingPunct="1">
              <a:lnSpc>
                <a:spcPct val="90000"/>
              </a:lnSpc>
              <a:buFont typeface="Times New Roman" charset="0"/>
              <a:buNone/>
              <a:defRPr/>
            </a:pPr>
            <a:r>
              <a:rPr lang="en-US" dirty="0" err="1">
                <a:latin typeface="Courier New" charset="0"/>
                <a:ea typeface="ＭＳ Ｐゴシック" charset="0"/>
              </a:rPr>
              <a:t>my_loop</a:t>
            </a:r>
            <a:r>
              <a:rPr lang="en-US" dirty="0">
                <a:latin typeface="Courier New" charset="0"/>
                <a:ea typeface="ＭＳ Ｐゴシック" charset="0"/>
              </a:rPr>
              <a:t>(N) := natural(I),</a:t>
            </a:r>
          </a:p>
          <a:p>
            <a:pPr marL="742950" lvl="1" eaLnBrk="1" hangingPunct="1">
              <a:lnSpc>
                <a:spcPct val="90000"/>
              </a:lnSpc>
              <a:buFont typeface="Times New Roman" charset="0"/>
              <a:buNone/>
              <a:defRPr/>
            </a:pPr>
            <a:r>
              <a:rPr lang="en-US" dirty="0">
                <a:latin typeface="Courier New" charset="0"/>
                <a:ea typeface="ＭＳ Ｐゴシック" charset="0"/>
              </a:rPr>
              <a:t>				write(I), </a:t>
            </a:r>
            <a:r>
              <a:rPr lang="en-US" dirty="0" err="1">
                <a:latin typeface="Courier New" charset="0"/>
                <a:ea typeface="ＭＳ Ｐゴシック" charset="0"/>
              </a:rPr>
              <a:t>nl</a:t>
            </a:r>
            <a:r>
              <a:rPr lang="en-US" dirty="0">
                <a:latin typeface="Courier New" charset="0"/>
                <a:ea typeface="ＭＳ Ｐゴシック" charset="0"/>
              </a:rPr>
              <a:t>,</a:t>
            </a:r>
          </a:p>
          <a:p>
            <a:pPr marL="742950" lvl="1" eaLnBrk="1" hangingPunct="1">
              <a:lnSpc>
                <a:spcPct val="90000"/>
              </a:lnSpc>
              <a:buFont typeface="Times New Roman" charset="0"/>
              <a:buNone/>
              <a:defRPr/>
            </a:pPr>
            <a:r>
              <a:rPr lang="en-US" dirty="0">
                <a:latin typeface="Courier New" charset="0"/>
                <a:ea typeface="ＭＳ Ｐゴシック" charset="0"/>
              </a:rPr>
              <a:t>				I = N, !. </a:t>
            </a:r>
          </a:p>
          <a:p>
            <a:pPr marL="742950" lvl="1" eaLnBrk="1" hangingPunct="1">
              <a:lnSpc>
                <a:spcPct val="90000"/>
              </a:lnSpc>
              <a:buFont typeface="Times New Roman" charset="0"/>
              <a:buNone/>
              <a:defRPr/>
            </a:pPr>
            <a:r>
              <a:rPr lang="en-US" sz="2800" dirty="0">
                <a:latin typeface="Times New Roman" charset="0"/>
                <a:ea typeface="ＭＳ Ｐゴシック" charset="0"/>
              </a:rPr>
              <a:t>So long as I is less than N, the equality predicate will fail and backtracking will pursue another alternative for </a:t>
            </a:r>
            <a:r>
              <a:rPr lang="en-US" dirty="0">
                <a:latin typeface="Courier New" charset="0"/>
                <a:ea typeface="ＭＳ Ｐゴシック" charset="0"/>
              </a:rPr>
              <a:t>natural</a:t>
            </a:r>
            <a:r>
              <a:rPr lang="en-US" sz="2800" dirty="0">
                <a:latin typeface="Times New Roman" charset="0"/>
                <a:ea typeface="ＭＳ Ｐゴシック" charset="0"/>
              </a:rPr>
              <a:t>.  If I is equal to N, then the cut will execute, committing us to the final value of I and terminating this loop.</a:t>
            </a:r>
            <a:endParaRPr lang="en-US" dirty="0">
              <a:latin typeface="Times New Roman" charset="0"/>
              <a:ea typeface="ＭＳ Ｐゴシック" charset="0"/>
            </a:endParaRPr>
          </a:p>
        </p:txBody>
      </p:sp>
    </p:spTree>
    <p:extLst>
      <p:ext uri="{BB962C8B-B14F-4D97-AF65-F5344CB8AC3E}">
        <p14:creationId xmlns:p14="http://schemas.microsoft.com/office/powerpoint/2010/main" val="2181093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Looping and unbounded generators</a:t>
            </a: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endParaRPr lang="en-US">
              <a:latin typeface="Times New Roman" charset="0"/>
              <a:ea typeface="ＭＳ Ｐゴシック" charset="0"/>
            </a:endParaRPr>
          </a:p>
          <a:p>
            <a:pPr eaLnBrk="1" hangingPunct="1">
              <a:lnSpc>
                <a:spcPct val="90000"/>
              </a:lnSpc>
              <a:defRPr/>
            </a:pPr>
            <a:r>
              <a:rPr lang="en-US">
                <a:latin typeface="Times New Roman" charset="0"/>
                <a:ea typeface="ＭＳ Ｐゴシック" charset="0"/>
              </a:rPr>
              <a:t>This programming idiom - an unbounded generator with a test-cut terminator - is know as generate-and-test.  </a:t>
            </a:r>
          </a:p>
          <a:p>
            <a:pPr eaLnBrk="1" hangingPunct="1">
              <a:lnSpc>
                <a:spcPct val="90000"/>
              </a:lnSpc>
              <a:defRPr/>
            </a:pPr>
            <a:r>
              <a:rPr lang="en-US">
                <a:latin typeface="Times New Roman" charset="0"/>
                <a:ea typeface="ＭＳ Ｐゴシック" charset="0"/>
              </a:rPr>
              <a:t>This combination is generally used with side effects, such as I/O or modification of the database.</a:t>
            </a:r>
          </a:p>
          <a:p>
            <a:pPr eaLnBrk="1" hangingPunct="1">
              <a:lnSpc>
                <a:spcPct val="90000"/>
              </a:lnSpc>
              <a:defRPr/>
            </a:pPr>
            <a:r>
              <a:rPr lang="en-US">
                <a:latin typeface="Times New Roman" charset="0"/>
                <a:ea typeface="ＭＳ Ｐゴシック" charset="0"/>
              </a:rPr>
              <a:t>For example, we could use such a construct to add values to the database until some threshold is met. </a:t>
            </a:r>
          </a:p>
        </p:txBody>
      </p:sp>
    </p:spTree>
    <p:extLst>
      <p:ext uri="{BB962C8B-B14F-4D97-AF65-F5344CB8AC3E}">
        <p14:creationId xmlns:p14="http://schemas.microsoft.com/office/powerpoint/2010/main" val="636598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I/O in prolog</a:t>
            </a: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endParaRPr lang="en-US">
              <a:latin typeface="Times New Roman" charset="0"/>
              <a:ea typeface="ＭＳ Ｐゴシック" charset="0"/>
            </a:endParaRPr>
          </a:p>
          <a:p>
            <a:pPr eaLnBrk="1" hangingPunct="1">
              <a:lnSpc>
                <a:spcPct val="90000"/>
              </a:lnSpc>
              <a:defRPr/>
            </a:pPr>
            <a:r>
              <a:rPr lang="en-US">
                <a:latin typeface="Times New Roman" charset="0"/>
                <a:ea typeface="ＭＳ Ｐゴシック" charset="0"/>
              </a:rPr>
              <a:t>Prolog provides several I/O predicates, such as:</a:t>
            </a:r>
          </a:p>
          <a:p>
            <a:pPr marL="742950" lvl="1" eaLnBrk="1" hangingPunct="1">
              <a:lnSpc>
                <a:spcPct val="90000"/>
              </a:lnSpc>
              <a:defRPr/>
            </a:pPr>
            <a:r>
              <a:rPr lang="en-US">
                <a:latin typeface="Courier New" charset="0"/>
                <a:ea typeface="ＭＳ Ｐゴシック" charset="0"/>
              </a:rPr>
              <a:t>write </a:t>
            </a:r>
            <a:r>
              <a:rPr lang="en-US">
                <a:latin typeface="Times New Roman" charset="0"/>
                <a:ea typeface="ＭＳ Ｐゴシック" charset="0"/>
              </a:rPr>
              <a:t>and</a:t>
            </a:r>
            <a:r>
              <a:rPr lang="en-US">
                <a:latin typeface="Courier New" charset="0"/>
                <a:ea typeface="ＭＳ Ｐゴシック" charset="0"/>
              </a:rPr>
              <a:t> nl</a:t>
            </a:r>
            <a:r>
              <a:rPr lang="en-US">
                <a:latin typeface="Times New Roman" charset="0"/>
                <a:ea typeface="ＭＳ Ｐゴシック" charset="0"/>
              </a:rPr>
              <a:t> for output, </a:t>
            </a:r>
            <a:r>
              <a:rPr lang="en-US">
                <a:latin typeface="Courier New" charset="0"/>
                <a:ea typeface="ＭＳ Ｐゴシック" charset="0"/>
              </a:rPr>
              <a:t>read </a:t>
            </a:r>
            <a:r>
              <a:rPr lang="en-US">
                <a:latin typeface="Times New Roman" charset="0"/>
                <a:ea typeface="ＭＳ Ｐゴシック" charset="0"/>
              </a:rPr>
              <a:t>for input</a:t>
            </a:r>
          </a:p>
          <a:p>
            <a:pPr marL="742950" lvl="1" eaLnBrk="1" hangingPunct="1">
              <a:lnSpc>
                <a:spcPct val="90000"/>
              </a:lnSpc>
              <a:defRPr/>
            </a:pPr>
            <a:r>
              <a:rPr lang="en-US">
                <a:latin typeface="Courier New" charset="0"/>
                <a:ea typeface="ＭＳ Ｐゴシック" charset="0"/>
              </a:rPr>
              <a:t>see</a:t>
            </a:r>
            <a:r>
              <a:rPr lang="en-US">
                <a:latin typeface="Times New Roman" charset="0"/>
                <a:ea typeface="ＭＳ Ｐゴシック" charset="0"/>
              </a:rPr>
              <a:t> and </a:t>
            </a:r>
            <a:r>
              <a:rPr lang="en-US">
                <a:latin typeface="Courier New" charset="0"/>
                <a:ea typeface="ＭＳ Ｐゴシック" charset="0"/>
              </a:rPr>
              <a:t>tell </a:t>
            </a:r>
            <a:r>
              <a:rPr lang="en-US">
                <a:latin typeface="Times New Roman" charset="0"/>
                <a:ea typeface="ＭＳ Ｐゴシック" charset="0"/>
              </a:rPr>
              <a:t>can redirect input and output to different files.</a:t>
            </a:r>
          </a:p>
          <a:p>
            <a:pPr marL="742950" lvl="1" eaLnBrk="1" hangingPunct="1">
              <a:lnSpc>
                <a:spcPct val="90000"/>
              </a:lnSpc>
              <a:defRPr/>
            </a:pPr>
            <a:r>
              <a:rPr lang="en-US">
                <a:latin typeface="Courier New" charset="0"/>
                <a:ea typeface="ＭＳ Ｐゴシック" charset="0"/>
              </a:rPr>
              <a:t>get</a:t>
            </a:r>
            <a:r>
              <a:rPr lang="en-US">
                <a:latin typeface="Times New Roman" charset="0"/>
                <a:ea typeface="ＭＳ Ｐゴシック" charset="0"/>
              </a:rPr>
              <a:t> and </a:t>
            </a:r>
            <a:r>
              <a:rPr lang="en-US">
                <a:latin typeface="Courier New" charset="0"/>
                <a:ea typeface="ＭＳ Ｐゴシック" charset="0"/>
              </a:rPr>
              <a:t>put </a:t>
            </a:r>
            <a:r>
              <a:rPr lang="en-US">
                <a:latin typeface="Times New Roman" charset="0"/>
                <a:ea typeface="ＭＳ Ｐゴシック" charset="0"/>
              </a:rPr>
              <a:t>read individual characters.</a:t>
            </a:r>
          </a:p>
          <a:p>
            <a:pPr marL="742950" lvl="1" eaLnBrk="1" hangingPunct="1">
              <a:lnSpc>
                <a:spcPct val="90000"/>
              </a:lnSpc>
              <a:defRPr/>
            </a:pPr>
            <a:r>
              <a:rPr lang="en-US">
                <a:latin typeface="Courier New" charset="0"/>
                <a:ea typeface="ＭＳ Ｐゴシック" charset="0"/>
              </a:rPr>
              <a:t>consult</a:t>
            </a:r>
            <a:r>
              <a:rPr lang="en-US">
                <a:latin typeface="Times New Roman" charset="0"/>
                <a:ea typeface="ＭＳ Ｐゴシック" charset="0"/>
              </a:rPr>
              <a:t> and </a:t>
            </a:r>
            <a:r>
              <a:rPr lang="en-US">
                <a:latin typeface="Courier New" charset="0"/>
                <a:ea typeface="ＭＳ Ｐゴシック" charset="0"/>
              </a:rPr>
              <a:t>reconsult </a:t>
            </a:r>
            <a:r>
              <a:rPr lang="en-US">
                <a:latin typeface="Times New Roman" charset="0"/>
                <a:ea typeface="ＭＳ Ｐゴシック" charset="0"/>
              </a:rPr>
              <a:t>add database clauses from a file, so that they don</a:t>
            </a:r>
            <a:r>
              <a:rPr lang="ja-JP" altLang="en-US">
                <a:latin typeface="Times New Roman" charset="0"/>
                <a:ea typeface="ＭＳ Ｐゴシック" charset="0"/>
              </a:rPr>
              <a:t>’</a:t>
            </a:r>
            <a:r>
              <a:rPr lang="en-US">
                <a:latin typeface="Times New Roman" charset="0"/>
                <a:ea typeface="ＭＳ Ｐゴシック" charset="0"/>
              </a:rPr>
              <a:t>t have to be entered by hand.</a:t>
            </a:r>
          </a:p>
          <a:p>
            <a:pPr marL="742950" lvl="1" eaLnBrk="1" hangingPunct="1">
              <a:lnSpc>
                <a:spcPct val="90000"/>
              </a:lnSpc>
              <a:defRPr/>
            </a:pPr>
            <a:endParaRPr lang="en-US">
              <a:latin typeface="Times New Roman" charset="0"/>
              <a:ea typeface="ＭＳ Ｐゴシック" charset="0"/>
            </a:endParaRPr>
          </a:p>
        </p:txBody>
      </p:sp>
    </p:spTree>
    <p:extLst>
      <p:ext uri="{BB962C8B-B14F-4D97-AF65-F5344CB8AC3E}">
        <p14:creationId xmlns:p14="http://schemas.microsoft.com/office/powerpoint/2010/main" val="671534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Database Manipulation</a:t>
            </a:r>
          </a:p>
        </p:txBody>
      </p:sp>
      <p:sp>
        <p:nvSpPr>
          <p:cNvPr id="26633" name="Rectangle 9"/>
          <p:cNvSpPr>
            <a:spLocks noGrp="1" noChangeArrowheads="1"/>
          </p:cNvSpPr>
          <p:nvPr>
            <p:ph type="body" idx="4294967295"/>
          </p:nvPr>
        </p:nvSpPr>
        <p:spPr>
          <a:xfrm>
            <a:off x="406400" y="10668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endParaRPr lang="en-US" sz="2400" dirty="0">
              <a:latin typeface="Times New Roman" charset="0"/>
              <a:ea typeface="ＭＳ Ｐゴシック" charset="0"/>
            </a:endParaRPr>
          </a:p>
          <a:p>
            <a:pPr eaLnBrk="1" hangingPunct="1">
              <a:lnSpc>
                <a:spcPct val="90000"/>
              </a:lnSpc>
              <a:defRPr/>
            </a:pPr>
            <a:r>
              <a:rPr lang="en-US" sz="2400" dirty="0">
                <a:latin typeface="Times New Roman" charset="0"/>
                <a:ea typeface="ＭＳ Ｐゴシック" charset="0"/>
              </a:rPr>
              <a:t>Prolog is </a:t>
            </a:r>
            <a:r>
              <a:rPr lang="en-US" sz="2400" i="1" dirty="0" err="1">
                <a:latin typeface="Times New Roman" charset="0"/>
                <a:ea typeface="ＭＳ Ｐゴシック" charset="0"/>
              </a:rPr>
              <a:t>homoiconic</a:t>
            </a:r>
            <a:r>
              <a:rPr lang="en-US" sz="2400" i="1" dirty="0">
                <a:latin typeface="Times New Roman" charset="0"/>
                <a:ea typeface="ＭＳ Ｐゴシック" charset="0"/>
              </a:rPr>
              <a:t>: </a:t>
            </a:r>
            <a:r>
              <a:rPr lang="en-US" sz="2400" dirty="0">
                <a:latin typeface="Times New Roman" charset="0"/>
                <a:ea typeface="ＭＳ Ｐゴシック" charset="0"/>
              </a:rPr>
              <a:t>it can represent itself (like Scheme).</a:t>
            </a:r>
          </a:p>
          <a:p>
            <a:pPr eaLnBrk="1" hangingPunct="1">
              <a:lnSpc>
                <a:spcPct val="90000"/>
              </a:lnSpc>
              <a:defRPr/>
            </a:pPr>
            <a:r>
              <a:rPr lang="en-US" sz="2400" dirty="0">
                <a:latin typeface="Times New Roman" charset="0"/>
                <a:ea typeface="ＭＳ Ｐゴシック" charset="0"/>
              </a:rPr>
              <a:t>It can also modify itself:</a:t>
            </a:r>
          </a:p>
          <a:p>
            <a:pPr marL="742950" lvl="1" eaLnBrk="1" hangingPunct="1">
              <a:lnSpc>
                <a:spcPct val="90000"/>
              </a:lnSpc>
              <a:buFont typeface="Times New Roman" charset="0"/>
              <a:buNone/>
              <a:defRPr/>
            </a:pPr>
            <a:r>
              <a:rPr lang="en-US" sz="2000" dirty="0">
                <a:latin typeface="Courier New" charset="0"/>
                <a:ea typeface="ＭＳ Ｐゴシック" charset="0"/>
              </a:rPr>
              <a:t>?- rainy(X)</a:t>
            </a:r>
          </a:p>
          <a:p>
            <a:pPr marL="742950" lvl="1" eaLnBrk="1" hangingPunct="1">
              <a:lnSpc>
                <a:spcPct val="90000"/>
              </a:lnSpc>
              <a:buFont typeface="Times New Roman" charset="0"/>
              <a:buNone/>
              <a:defRPr/>
            </a:pPr>
            <a:r>
              <a:rPr lang="en-US" sz="2000" dirty="0">
                <a:latin typeface="Courier New" charset="0"/>
                <a:ea typeface="ＭＳ Ｐゴシック" charset="0"/>
              </a:rPr>
              <a:t>X = </a:t>
            </a:r>
            <a:r>
              <a:rPr lang="en-US" sz="2000" dirty="0" err="1">
                <a:latin typeface="Courier New" charset="0"/>
                <a:ea typeface="ＭＳ Ｐゴシック" charset="0"/>
              </a:rPr>
              <a:t>seattle</a:t>
            </a:r>
            <a:r>
              <a:rPr lang="en-US" sz="2000" dirty="0">
                <a:latin typeface="Courier New" charset="0"/>
                <a:ea typeface="ＭＳ Ｐゴシック" charset="0"/>
              </a:rPr>
              <a:t> ;</a:t>
            </a:r>
          </a:p>
          <a:p>
            <a:pPr marL="742950" lvl="1" eaLnBrk="1" hangingPunct="1">
              <a:lnSpc>
                <a:spcPct val="90000"/>
              </a:lnSpc>
              <a:buFont typeface="Times New Roman" charset="0"/>
              <a:buNone/>
              <a:defRPr/>
            </a:pPr>
            <a:r>
              <a:rPr lang="en-US" sz="2000" dirty="0">
                <a:latin typeface="Courier New" charset="0"/>
                <a:ea typeface="ＭＳ Ｐゴシック" charset="0"/>
              </a:rPr>
              <a:t>X = </a:t>
            </a:r>
            <a:r>
              <a:rPr lang="en-US" sz="2000" dirty="0" err="1">
                <a:latin typeface="Courier New" charset="0"/>
                <a:ea typeface="ＭＳ Ｐゴシック" charset="0"/>
              </a:rPr>
              <a:t>rochester</a:t>
            </a:r>
            <a:r>
              <a:rPr lang="en-US" sz="2000" dirty="0">
                <a:latin typeface="Courier New" charset="0"/>
                <a:ea typeface="ＭＳ Ｐゴシック" charset="0"/>
              </a:rPr>
              <a:t> ;</a:t>
            </a:r>
          </a:p>
          <a:p>
            <a:pPr marL="742950" lvl="1" eaLnBrk="1" hangingPunct="1">
              <a:lnSpc>
                <a:spcPct val="90000"/>
              </a:lnSpc>
              <a:buFont typeface="Times New Roman" charset="0"/>
              <a:buNone/>
              <a:defRPr/>
            </a:pPr>
            <a:r>
              <a:rPr lang="en-US" sz="2000" dirty="0">
                <a:latin typeface="Courier New" charset="0"/>
                <a:ea typeface="ＭＳ Ｐゴシック" charset="0"/>
              </a:rPr>
              <a:t>No</a:t>
            </a:r>
          </a:p>
          <a:p>
            <a:pPr marL="742950" lvl="1" eaLnBrk="1" hangingPunct="1">
              <a:lnSpc>
                <a:spcPct val="90000"/>
              </a:lnSpc>
              <a:buFont typeface="Times New Roman" charset="0"/>
              <a:buNone/>
              <a:defRPr/>
            </a:pPr>
            <a:r>
              <a:rPr lang="en-US" sz="2000" dirty="0">
                <a:latin typeface="Courier New" charset="0"/>
                <a:ea typeface="ＭＳ Ｐゴシック" charset="0"/>
              </a:rPr>
              <a:t>?- assert(rainy(</a:t>
            </a:r>
            <a:r>
              <a:rPr lang="en-US" sz="2000" dirty="0" err="1">
                <a:latin typeface="Courier New" charset="0"/>
                <a:ea typeface="ＭＳ Ｐゴシック" charset="0"/>
              </a:rPr>
              <a:t>syracuse</a:t>
            </a:r>
            <a:r>
              <a:rPr lang="en-US" sz="2000" dirty="0">
                <a:latin typeface="Courier New" charset="0"/>
                <a:ea typeface="ＭＳ Ｐゴシック" charset="0"/>
              </a:rPr>
              <a:t>)).</a:t>
            </a:r>
          </a:p>
          <a:p>
            <a:pPr marL="742950" lvl="1" eaLnBrk="1" hangingPunct="1">
              <a:lnSpc>
                <a:spcPct val="90000"/>
              </a:lnSpc>
              <a:buFont typeface="Times New Roman" charset="0"/>
              <a:buNone/>
              <a:defRPr/>
            </a:pPr>
            <a:r>
              <a:rPr lang="en-US" sz="2000" dirty="0">
                <a:latin typeface="Courier New" charset="0"/>
                <a:ea typeface="ＭＳ Ｐゴシック" charset="0"/>
              </a:rPr>
              <a:t>Yes</a:t>
            </a:r>
          </a:p>
          <a:p>
            <a:pPr marL="742950" lvl="1" eaLnBrk="1" hangingPunct="1">
              <a:lnSpc>
                <a:spcPct val="90000"/>
              </a:lnSpc>
              <a:buFont typeface="Times New Roman" charset="0"/>
              <a:buNone/>
              <a:defRPr/>
            </a:pPr>
            <a:r>
              <a:rPr lang="en-US" sz="2000" dirty="0">
                <a:latin typeface="Courier New" charset="0"/>
                <a:ea typeface="ＭＳ Ｐゴシック" charset="0"/>
              </a:rPr>
              <a:t>?- retract(rainy(</a:t>
            </a:r>
            <a:r>
              <a:rPr lang="en-US" sz="2000" dirty="0" err="1">
                <a:latin typeface="Courier New" charset="0"/>
                <a:ea typeface="ＭＳ Ｐゴシック" charset="0"/>
              </a:rPr>
              <a:t>rochester</a:t>
            </a:r>
            <a:r>
              <a:rPr lang="en-US" sz="2000" dirty="0">
                <a:latin typeface="Courier New" charset="0"/>
                <a:ea typeface="ＭＳ Ｐゴシック" charset="0"/>
              </a:rPr>
              <a:t>)).</a:t>
            </a:r>
          </a:p>
          <a:p>
            <a:pPr marL="742950" lvl="1" eaLnBrk="1" hangingPunct="1">
              <a:lnSpc>
                <a:spcPct val="90000"/>
              </a:lnSpc>
              <a:buFont typeface="Times New Roman" charset="0"/>
              <a:buNone/>
              <a:defRPr/>
            </a:pPr>
            <a:r>
              <a:rPr lang="en-US" sz="2000" dirty="0">
                <a:latin typeface="Courier New" charset="0"/>
                <a:ea typeface="ＭＳ Ｐゴシック" charset="0"/>
              </a:rPr>
              <a:t>Yes</a:t>
            </a:r>
          </a:p>
          <a:p>
            <a:pPr marL="742950" lvl="1" eaLnBrk="1" hangingPunct="1">
              <a:lnSpc>
                <a:spcPct val="90000"/>
              </a:lnSpc>
              <a:buFont typeface="Times New Roman" charset="0"/>
              <a:buNone/>
              <a:defRPr/>
            </a:pPr>
            <a:r>
              <a:rPr lang="en-US" sz="2000" dirty="0">
                <a:latin typeface="Courier New" charset="0"/>
                <a:ea typeface="ＭＳ Ｐゴシック" charset="0"/>
              </a:rPr>
              <a:t>?- rainy(X)</a:t>
            </a:r>
          </a:p>
          <a:p>
            <a:pPr marL="742950" lvl="1" eaLnBrk="1" hangingPunct="1">
              <a:lnSpc>
                <a:spcPct val="90000"/>
              </a:lnSpc>
              <a:buFont typeface="Times New Roman" charset="0"/>
              <a:buNone/>
              <a:defRPr/>
            </a:pPr>
            <a:r>
              <a:rPr lang="en-US" sz="2000" dirty="0">
                <a:latin typeface="Courier New" charset="0"/>
                <a:ea typeface="ＭＳ Ｐゴシック" charset="0"/>
              </a:rPr>
              <a:t>X = </a:t>
            </a:r>
            <a:r>
              <a:rPr lang="en-US" sz="2000" dirty="0" err="1">
                <a:latin typeface="Courier New" charset="0"/>
                <a:ea typeface="ＭＳ Ｐゴシック" charset="0"/>
              </a:rPr>
              <a:t>seattle</a:t>
            </a:r>
            <a:r>
              <a:rPr lang="en-US" sz="2000" dirty="0">
                <a:latin typeface="Courier New" charset="0"/>
                <a:ea typeface="ＭＳ Ｐゴシック" charset="0"/>
              </a:rPr>
              <a:t> ;</a:t>
            </a:r>
          </a:p>
          <a:p>
            <a:pPr marL="742950" lvl="1" eaLnBrk="1" hangingPunct="1">
              <a:lnSpc>
                <a:spcPct val="90000"/>
              </a:lnSpc>
              <a:buFont typeface="Times New Roman" charset="0"/>
              <a:buNone/>
              <a:defRPr/>
            </a:pPr>
            <a:r>
              <a:rPr lang="en-US" sz="2000" dirty="0">
                <a:latin typeface="Courier New" charset="0"/>
                <a:ea typeface="ＭＳ Ｐゴシック" charset="0"/>
              </a:rPr>
              <a:t>X = </a:t>
            </a:r>
            <a:r>
              <a:rPr lang="en-US" sz="2000" dirty="0" err="1">
                <a:latin typeface="Courier New" charset="0"/>
                <a:ea typeface="ＭＳ Ｐゴシック" charset="0"/>
              </a:rPr>
              <a:t>syracuse</a:t>
            </a:r>
            <a:r>
              <a:rPr lang="en-US" sz="2000" dirty="0">
                <a:latin typeface="Courier New" charset="0"/>
                <a:ea typeface="ＭＳ Ｐゴシック" charset="0"/>
              </a:rPr>
              <a:t> ;</a:t>
            </a:r>
          </a:p>
          <a:p>
            <a:pPr marL="742950" lvl="1" eaLnBrk="1" hangingPunct="1">
              <a:lnSpc>
                <a:spcPct val="90000"/>
              </a:lnSpc>
              <a:buFont typeface="Times New Roman" charset="0"/>
              <a:buNone/>
              <a:defRPr/>
            </a:pPr>
            <a:r>
              <a:rPr lang="en-US" sz="2000" dirty="0">
                <a:latin typeface="Courier New" charset="0"/>
                <a:ea typeface="ＭＳ Ｐゴシック" charset="0"/>
              </a:rPr>
              <a:t>No</a:t>
            </a:r>
            <a:endParaRPr lang="en-US" sz="2000" dirty="0">
              <a:latin typeface="Times New Roman" charset="0"/>
              <a:ea typeface="ＭＳ Ｐゴシック" charset="0"/>
            </a:endParaRPr>
          </a:p>
          <a:p>
            <a:pPr marL="742950" lvl="1" eaLnBrk="1" hangingPunct="1">
              <a:lnSpc>
                <a:spcPct val="90000"/>
              </a:lnSpc>
              <a:defRPr/>
            </a:pPr>
            <a:endParaRPr lang="en-US" sz="2000" dirty="0">
              <a:latin typeface="Times New Roman" charset="0"/>
              <a:ea typeface="ＭＳ Ｐゴシック" charset="0"/>
            </a:endParaRPr>
          </a:p>
        </p:txBody>
      </p:sp>
    </p:spTree>
    <p:extLst>
      <p:ext uri="{BB962C8B-B14F-4D97-AF65-F5344CB8AC3E}">
        <p14:creationId xmlns:p14="http://schemas.microsoft.com/office/powerpoint/2010/main" val="3832257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Additional predicates</a:t>
            </a:r>
            <a:br>
              <a:rPr lang="en-US" b="1" dirty="0">
                <a:latin typeface="Arial" charset="0"/>
                <a:ea typeface="Arial" charset="0"/>
                <a:cs typeface="Arial" charset="0"/>
              </a:rPr>
            </a:br>
            <a:r>
              <a:rPr lang="zh-TW" altLang="en-US" b="1" dirty="0">
                <a:latin typeface="Arial" charset="0"/>
                <a:ea typeface="Arial" charset="0"/>
                <a:cs typeface="Arial" charset="0"/>
              </a:rPr>
              <a:t>有</a:t>
            </a:r>
            <a:r>
              <a:rPr lang="en-US" altLang="zh-TW" b="1" dirty="0">
                <a:latin typeface="Arial" charset="0"/>
                <a:ea typeface="Arial" charset="0"/>
                <a:cs typeface="Arial" charset="0"/>
              </a:rPr>
              <a:t>MECE</a:t>
            </a:r>
            <a:r>
              <a:rPr lang="zh-TW" altLang="en-US" b="1" dirty="0">
                <a:latin typeface="Arial" charset="0"/>
                <a:ea typeface="Arial" charset="0"/>
                <a:cs typeface="Arial" charset="0"/>
              </a:rPr>
              <a:t>嘛</a:t>
            </a:r>
            <a:endParaRPr lang="en-US" b="1" dirty="0">
              <a:latin typeface="Arial" charset="0"/>
              <a:ea typeface="Arial" charset="0"/>
              <a:cs typeface="Arial" charset="0"/>
            </a:endParaRP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r>
              <a:rPr lang="en-US" sz="2400" dirty="0">
                <a:latin typeface="Times New Roman" charset="0"/>
                <a:ea typeface="ＭＳ Ｐゴシック" charset="0"/>
              </a:rPr>
              <a:t>The goal </a:t>
            </a:r>
            <a:r>
              <a:rPr lang="en-US" sz="2400" dirty="0">
                <a:latin typeface="Courier New" charset="0"/>
                <a:ea typeface="ＭＳ Ｐゴシック" charset="0"/>
              </a:rPr>
              <a:t>functor(T, F, N)</a:t>
            </a:r>
            <a:r>
              <a:rPr lang="en-US" sz="2400" dirty="0">
                <a:latin typeface="Times New Roman" charset="0"/>
                <a:ea typeface="ＭＳ Ｐゴシック" charset="0"/>
              </a:rPr>
              <a:t> succeeds if and only if T is a term with functor F and arity N:</a:t>
            </a:r>
          </a:p>
          <a:p>
            <a:pPr marL="742950" lvl="1" eaLnBrk="1" hangingPunct="1">
              <a:lnSpc>
                <a:spcPct val="90000"/>
              </a:lnSpc>
              <a:buFont typeface="Times New Roman" charset="0"/>
              <a:buNone/>
              <a:defRPr/>
            </a:pPr>
            <a:r>
              <a:rPr lang="en-US" sz="2000" dirty="0">
                <a:latin typeface="Courier New" charset="0"/>
                <a:ea typeface="ＭＳ Ｐゴシック" charset="0"/>
              </a:rPr>
              <a:t>?- functor(foo(</a:t>
            </a:r>
            <a:r>
              <a:rPr lang="en-US" sz="2000" dirty="0" err="1">
                <a:latin typeface="Courier New" charset="0"/>
                <a:ea typeface="ＭＳ Ｐゴシック" charset="0"/>
              </a:rPr>
              <a:t>a,b,c</a:t>
            </a:r>
            <a:r>
              <a:rPr lang="en-US" sz="2000" dirty="0">
                <a:latin typeface="Courier New" charset="0"/>
                <a:ea typeface="ＭＳ Ｐゴシック" charset="0"/>
              </a:rPr>
              <a:t>), foo, 3).</a:t>
            </a:r>
          </a:p>
          <a:p>
            <a:pPr marL="742950" lvl="1" eaLnBrk="1" hangingPunct="1">
              <a:lnSpc>
                <a:spcPct val="90000"/>
              </a:lnSpc>
              <a:buFont typeface="Times New Roman" charset="0"/>
              <a:buNone/>
              <a:defRPr/>
            </a:pPr>
            <a:r>
              <a:rPr lang="en-US" sz="2000" dirty="0">
                <a:latin typeface="Courier New" charset="0"/>
                <a:ea typeface="ＭＳ Ｐゴシック" charset="0"/>
              </a:rPr>
              <a:t>Yes</a:t>
            </a:r>
          </a:p>
          <a:p>
            <a:pPr marL="742950" lvl="1" eaLnBrk="1" hangingPunct="1">
              <a:lnSpc>
                <a:spcPct val="90000"/>
              </a:lnSpc>
              <a:buFont typeface="Times New Roman" charset="0"/>
              <a:buNone/>
              <a:defRPr/>
            </a:pPr>
            <a:r>
              <a:rPr lang="en-US" sz="2000" dirty="0">
                <a:latin typeface="Courier New" charset="0"/>
                <a:ea typeface="ＭＳ Ｐゴシック" charset="0"/>
              </a:rPr>
              <a:t>?- functor(foo(</a:t>
            </a:r>
            <a:r>
              <a:rPr lang="en-US" sz="2000" dirty="0" err="1">
                <a:latin typeface="Courier New" charset="0"/>
                <a:ea typeface="ＭＳ Ｐゴシック" charset="0"/>
              </a:rPr>
              <a:t>a,b,c</a:t>
            </a:r>
            <a:r>
              <a:rPr lang="en-US" sz="2000" dirty="0">
                <a:latin typeface="Courier New" charset="0"/>
                <a:ea typeface="ＭＳ Ｐゴシック" charset="0"/>
              </a:rPr>
              <a:t>), F, N).</a:t>
            </a:r>
          </a:p>
          <a:p>
            <a:pPr marL="742950" lvl="1" eaLnBrk="1" hangingPunct="1">
              <a:lnSpc>
                <a:spcPct val="90000"/>
              </a:lnSpc>
              <a:buFont typeface="Times New Roman" charset="0"/>
              <a:buNone/>
              <a:defRPr/>
            </a:pPr>
            <a:r>
              <a:rPr lang="en-US" sz="2000" dirty="0">
                <a:latin typeface="Courier New" charset="0"/>
                <a:ea typeface="ＭＳ Ｐゴシック" charset="0"/>
              </a:rPr>
              <a:t>F = foo</a:t>
            </a:r>
          </a:p>
          <a:p>
            <a:pPr marL="742950" lvl="1" eaLnBrk="1" hangingPunct="1">
              <a:lnSpc>
                <a:spcPct val="90000"/>
              </a:lnSpc>
              <a:buFont typeface="Times New Roman" charset="0"/>
              <a:buNone/>
              <a:defRPr/>
            </a:pPr>
            <a:r>
              <a:rPr lang="en-US" sz="2000" dirty="0">
                <a:latin typeface="Courier New" charset="0"/>
                <a:ea typeface="ＭＳ Ｐゴシック" charset="0"/>
              </a:rPr>
              <a:t>N = 3</a:t>
            </a:r>
          </a:p>
          <a:p>
            <a:pPr marL="742950" lvl="1" eaLnBrk="1" hangingPunct="1">
              <a:lnSpc>
                <a:spcPct val="90000"/>
              </a:lnSpc>
              <a:buFont typeface="Times New Roman" charset="0"/>
              <a:buNone/>
              <a:defRPr/>
            </a:pPr>
            <a:r>
              <a:rPr lang="en-US" sz="2000" dirty="0">
                <a:latin typeface="Courier New" charset="0"/>
                <a:ea typeface="ＭＳ Ｐゴシック" charset="0"/>
              </a:rPr>
              <a:t>?- functor(T, foo, 3).</a:t>
            </a:r>
          </a:p>
          <a:p>
            <a:pPr marL="742950" lvl="1" eaLnBrk="1" hangingPunct="1">
              <a:lnSpc>
                <a:spcPct val="90000"/>
              </a:lnSpc>
              <a:buFont typeface="Times New Roman" charset="0"/>
              <a:buNone/>
              <a:defRPr/>
            </a:pPr>
            <a:r>
              <a:rPr lang="en-US" sz="2000" dirty="0">
                <a:latin typeface="Courier New" charset="0"/>
                <a:ea typeface="ＭＳ Ｐゴシック" charset="0"/>
              </a:rPr>
              <a:t>T = foo(_10, _37, _24)</a:t>
            </a:r>
            <a:endParaRPr lang="en-US" sz="2000" dirty="0">
              <a:latin typeface="Times New Roman" charset="0"/>
              <a:ea typeface="ＭＳ Ｐゴシック" charset="0"/>
            </a:endParaRPr>
          </a:p>
          <a:p>
            <a:pPr eaLnBrk="1" hangingPunct="1">
              <a:lnSpc>
                <a:spcPct val="90000"/>
              </a:lnSpc>
              <a:defRPr/>
            </a:pPr>
            <a:r>
              <a:rPr lang="en-US" sz="2400" dirty="0">
                <a:latin typeface="Times New Roman" charset="0"/>
                <a:ea typeface="ＭＳ Ｐゴシック" charset="0"/>
              </a:rPr>
              <a:t>The goal </a:t>
            </a:r>
            <a:r>
              <a:rPr lang="en-US" sz="2400" dirty="0" err="1">
                <a:latin typeface="Courier New" charset="0"/>
                <a:ea typeface="ＭＳ Ｐゴシック" charset="0"/>
              </a:rPr>
              <a:t>arg</a:t>
            </a:r>
            <a:r>
              <a:rPr lang="en-US" sz="2400" dirty="0">
                <a:latin typeface="Courier New" charset="0"/>
                <a:ea typeface="ＭＳ Ｐゴシック" charset="0"/>
              </a:rPr>
              <a:t>(N, T, A)</a:t>
            </a:r>
            <a:r>
              <a:rPr lang="en-US" sz="2400" dirty="0">
                <a:latin typeface="Times New Roman" charset="0"/>
                <a:ea typeface="ＭＳ Ｐゴシック" charset="0"/>
              </a:rPr>
              <a:t> succeeds if and only if its first two arguments are instantiated, N is a number, and A is the Nth argument of T:</a:t>
            </a:r>
          </a:p>
          <a:p>
            <a:pPr marL="742950" lvl="1" eaLnBrk="1" hangingPunct="1">
              <a:lnSpc>
                <a:spcPct val="90000"/>
              </a:lnSpc>
              <a:buFont typeface="Times New Roman" charset="0"/>
              <a:buNone/>
              <a:defRPr/>
            </a:pPr>
            <a:r>
              <a:rPr lang="en-US" sz="2000" dirty="0">
                <a:latin typeface="Courier New" charset="0"/>
                <a:ea typeface="ＭＳ Ｐゴシック" charset="0"/>
              </a:rPr>
              <a:t>?- </a:t>
            </a:r>
            <a:r>
              <a:rPr lang="en-US" sz="2000" dirty="0" err="1">
                <a:latin typeface="Courier New" charset="0"/>
                <a:ea typeface="ＭＳ Ｐゴシック" charset="0"/>
              </a:rPr>
              <a:t>arg</a:t>
            </a:r>
            <a:r>
              <a:rPr lang="en-US" sz="2000" dirty="0">
                <a:latin typeface="Courier New" charset="0"/>
                <a:ea typeface="ＭＳ Ｐゴシック" charset="0"/>
              </a:rPr>
              <a:t>(3, foo(</a:t>
            </a:r>
            <a:r>
              <a:rPr lang="en-US" sz="2000" dirty="0" err="1">
                <a:latin typeface="Courier New" charset="0"/>
                <a:ea typeface="ＭＳ Ｐゴシック" charset="0"/>
              </a:rPr>
              <a:t>a,b,c</a:t>
            </a:r>
            <a:r>
              <a:rPr lang="en-US" sz="2000" dirty="0">
                <a:latin typeface="Courier New" charset="0"/>
                <a:ea typeface="ＭＳ Ｐゴシック" charset="0"/>
              </a:rPr>
              <a:t>), A).</a:t>
            </a:r>
          </a:p>
          <a:p>
            <a:pPr marL="742950" lvl="1" eaLnBrk="1" hangingPunct="1">
              <a:lnSpc>
                <a:spcPct val="90000"/>
              </a:lnSpc>
              <a:buFont typeface="Times New Roman" charset="0"/>
              <a:buNone/>
              <a:defRPr/>
            </a:pPr>
            <a:r>
              <a:rPr lang="en-US" sz="2000" dirty="0">
                <a:latin typeface="Courier New" charset="0"/>
                <a:ea typeface="ＭＳ Ｐゴシック" charset="0"/>
              </a:rPr>
              <a:t>A = c</a:t>
            </a:r>
            <a:endParaRPr lang="en-US" sz="2000" dirty="0">
              <a:latin typeface="Times New Roman" charset="0"/>
              <a:ea typeface="ＭＳ Ｐゴシック" charset="0"/>
            </a:endParaRPr>
          </a:p>
          <a:p>
            <a:pPr marL="742950" lvl="1" eaLnBrk="1" hangingPunct="1">
              <a:lnSpc>
                <a:spcPct val="90000"/>
              </a:lnSpc>
              <a:defRPr/>
            </a:pPr>
            <a:endParaRPr lang="en-US" sz="2000" dirty="0">
              <a:latin typeface="Times New Roman" charset="0"/>
              <a:ea typeface="ＭＳ Ｐゴシック" charset="0"/>
            </a:endParaRPr>
          </a:p>
        </p:txBody>
      </p:sp>
    </p:spTree>
    <p:extLst>
      <p:ext uri="{BB962C8B-B14F-4D97-AF65-F5344CB8AC3E}">
        <p14:creationId xmlns:p14="http://schemas.microsoft.com/office/powerpoint/2010/main" val="3426867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Using </a:t>
            </a:r>
            <a:r>
              <a:rPr lang="en-US" b="1" dirty="0" err="1">
                <a:latin typeface="Arial" charset="0"/>
                <a:ea typeface="Arial" charset="0"/>
                <a:cs typeface="Arial" charset="0"/>
              </a:rPr>
              <a:t>arg</a:t>
            </a:r>
            <a:r>
              <a:rPr lang="en-US" b="1" dirty="0">
                <a:latin typeface="Arial" charset="0"/>
                <a:ea typeface="Arial" charset="0"/>
                <a:cs typeface="Arial" charset="0"/>
              </a:rPr>
              <a:t> and </a:t>
            </a:r>
            <a:r>
              <a:rPr lang="en-US" b="1" dirty="0" err="1">
                <a:latin typeface="Arial" charset="0"/>
                <a:ea typeface="Arial" charset="0"/>
                <a:cs typeface="Arial" charset="0"/>
              </a:rPr>
              <a:t>functor</a:t>
            </a:r>
            <a:endParaRPr lang="en-US" b="1" dirty="0">
              <a:latin typeface="Arial" charset="0"/>
              <a:ea typeface="Arial" charset="0"/>
              <a:cs typeface="Arial" charset="0"/>
            </a:endParaRPr>
          </a:p>
        </p:txBody>
      </p:sp>
      <p:sp>
        <p:nvSpPr>
          <p:cNvPr id="26633" name="Rectangle 9"/>
          <p:cNvSpPr>
            <a:spLocks noGrp="1" noChangeArrowheads="1"/>
          </p:cNvSpPr>
          <p:nvPr>
            <p:ph type="body" idx="4294967295"/>
          </p:nvPr>
        </p:nvSpPr>
        <p:spPr>
          <a:xfrm>
            <a:off x="279400" y="1147281"/>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normAutofit lnSpcReduction="10000"/>
          </a:bodyPr>
          <a:lstStyle/>
          <a:p>
            <a:pPr eaLnBrk="1" hangingPunct="1">
              <a:lnSpc>
                <a:spcPct val="90000"/>
              </a:lnSpc>
              <a:defRPr/>
            </a:pPr>
            <a:r>
              <a:rPr lang="en-US" dirty="0">
                <a:latin typeface="Times New Roman" charset="0"/>
                <a:ea typeface="ＭＳ Ｐゴシック" charset="0"/>
              </a:rPr>
              <a:t>We can use these together to create an arbitrary term:</a:t>
            </a:r>
          </a:p>
          <a:p>
            <a:pPr marL="742950" lvl="1" eaLnBrk="1" hangingPunct="1">
              <a:lnSpc>
                <a:spcPct val="90000"/>
              </a:lnSpc>
              <a:buFont typeface="Times New Roman" charset="0"/>
              <a:buNone/>
              <a:defRPr/>
            </a:pPr>
            <a:r>
              <a:rPr lang="en-US" dirty="0">
                <a:latin typeface="Courier New" charset="0"/>
                <a:ea typeface="ＭＳ Ｐゴシック" charset="0"/>
              </a:rPr>
              <a:t>?- </a:t>
            </a:r>
            <a:r>
              <a:rPr lang="en-US" dirty="0" err="1">
                <a:latin typeface="Courier New" charset="0"/>
                <a:ea typeface="ＭＳ Ｐゴシック" charset="0"/>
              </a:rPr>
              <a:t>functor</a:t>
            </a:r>
            <a:r>
              <a:rPr lang="en-US" dirty="0">
                <a:latin typeface="Courier New" charset="0"/>
                <a:ea typeface="ＭＳ Ｐゴシック" charset="0"/>
              </a:rPr>
              <a:t>(T, foo, 3), </a:t>
            </a:r>
            <a:r>
              <a:rPr lang="en-US" dirty="0" err="1">
                <a:latin typeface="Courier New" charset="0"/>
                <a:ea typeface="ＭＳ Ｐゴシック" charset="0"/>
              </a:rPr>
              <a:t>arg</a:t>
            </a:r>
            <a:r>
              <a:rPr lang="en-US" dirty="0">
                <a:latin typeface="Courier New" charset="0"/>
                <a:ea typeface="ＭＳ Ｐゴシック" charset="0"/>
              </a:rPr>
              <a:t>(1, T, a), </a:t>
            </a:r>
            <a:r>
              <a:rPr lang="en-US" dirty="0" err="1">
                <a:latin typeface="Courier New" charset="0"/>
                <a:ea typeface="ＭＳ Ｐゴシック" charset="0"/>
              </a:rPr>
              <a:t>arg</a:t>
            </a:r>
            <a:r>
              <a:rPr lang="en-US" dirty="0">
                <a:latin typeface="Courier New" charset="0"/>
                <a:ea typeface="ＭＳ Ｐゴシック" charset="0"/>
              </a:rPr>
              <a:t>(2, T, b), </a:t>
            </a:r>
            <a:r>
              <a:rPr lang="en-US" dirty="0" err="1">
                <a:latin typeface="Courier New" charset="0"/>
                <a:ea typeface="ＭＳ Ｐゴシック" charset="0"/>
              </a:rPr>
              <a:t>arg</a:t>
            </a:r>
            <a:r>
              <a:rPr lang="en-US" dirty="0">
                <a:latin typeface="Courier New" charset="0"/>
                <a:ea typeface="ＭＳ Ｐゴシック" charset="0"/>
              </a:rPr>
              <a:t>(3, T, c)</a:t>
            </a:r>
          </a:p>
          <a:p>
            <a:pPr marL="742950" lvl="1" eaLnBrk="1" hangingPunct="1">
              <a:lnSpc>
                <a:spcPct val="90000"/>
              </a:lnSpc>
              <a:buFont typeface="Times New Roman" charset="0"/>
              <a:buNone/>
              <a:defRPr/>
            </a:pPr>
            <a:r>
              <a:rPr lang="en-US" dirty="0">
                <a:latin typeface="Courier New" charset="0"/>
                <a:ea typeface="ＭＳ Ｐゴシック" charset="0"/>
              </a:rPr>
              <a:t>T = foo(a, b, c)</a:t>
            </a:r>
            <a:endParaRPr lang="en-US" dirty="0">
              <a:latin typeface="Times New Roman" charset="0"/>
              <a:ea typeface="ＭＳ Ｐゴシック" charset="0"/>
            </a:endParaRPr>
          </a:p>
          <a:p>
            <a:pPr eaLnBrk="1" hangingPunct="1">
              <a:lnSpc>
                <a:spcPct val="90000"/>
              </a:lnSpc>
              <a:defRPr/>
            </a:pPr>
            <a:r>
              <a:rPr lang="en-US" dirty="0">
                <a:latin typeface="Times New Roman" charset="0"/>
                <a:ea typeface="ＭＳ Ｐゴシック" charset="0"/>
              </a:rPr>
              <a:t>We can also use </a:t>
            </a:r>
            <a:r>
              <a:rPr lang="en-US" dirty="0">
                <a:latin typeface="Courier New" charset="0"/>
                <a:ea typeface="ＭＳ Ｐゴシック" charset="0"/>
              </a:rPr>
              <a:t>=..</a:t>
            </a:r>
            <a:r>
              <a:rPr lang="en-US" dirty="0">
                <a:latin typeface="Times New Roman" charset="0"/>
                <a:ea typeface="ＭＳ Ｐゴシック" charset="0"/>
              </a:rPr>
              <a:t> for this:</a:t>
            </a:r>
          </a:p>
          <a:p>
            <a:pPr marL="742950" lvl="1" eaLnBrk="1" hangingPunct="1">
              <a:lnSpc>
                <a:spcPct val="90000"/>
              </a:lnSpc>
              <a:buFont typeface="Times New Roman" charset="0"/>
              <a:buNone/>
              <a:defRPr/>
            </a:pPr>
            <a:r>
              <a:rPr lang="en-US" dirty="0">
                <a:latin typeface="Courier New" charset="0"/>
                <a:ea typeface="ＭＳ Ｐゴシック" charset="0"/>
              </a:rPr>
              <a:t>?- T =.. [foo, a, b, c]</a:t>
            </a:r>
          </a:p>
          <a:p>
            <a:pPr marL="742950" lvl="1" eaLnBrk="1" hangingPunct="1">
              <a:lnSpc>
                <a:spcPct val="90000"/>
              </a:lnSpc>
              <a:buFont typeface="Times New Roman" charset="0"/>
              <a:buNone/>
              <a:defRPr/>
            </a:pPr>
            <a:r>
              <a:rPr lang="en-US" dirty="0">
                <a:latin typeface="Courier New" charset="0"/>
                <a:ea typeface="ＭＳ Ｐゴシック" charset="0"/>
              </a:rPr>
              <a:t>T = foo(</a:t>
            </a:r>
            <a:r>
              <a:rPr lang="en-US" dirty="0" err="1">
                <a:latin typeface="Courier New" charset="0"/>
                <a:ea typeface="ＭＳ Ｐゴシック" charset="0"/>
              </a:rPr>
              <a:t>a,b,c</a:t>
            </a:r>
            <a:r>
              <a:rPr lang="en-US" dirty="0">
                <a:latin typeface="Courier New" charset="0"/>
                <a:ea typeface="ＭＳ Ｐゴシック" charset="0"/>
              </a:rPr>
              <a:t>)</a:t>
            </a:r>
          </a:p>
          <a:p>
            <a:pPr marL="742950" lvl="1" eaLnBrk="1" hangingPunct="1">
              <a:lnSpc>
                <a:spcPct val="90000"/>
              </a:lnSpc>
              <a:buFont typeface="Times New Roman" charset="0"/>
              <a:buNone/>
              <a:defRPr/>
            </a:pPr>
            <a:r>
              <a:rPr lang="en-US" dirty="0">
                <a:latin typeface="Courier New" charset="0"/>
                <a:ea typeface="ＭＳ Ｐゴシック" charset="0"/>
              </a:rPr>
              <a:t>?- foo(</a:t>
            </a:r>
            <a:r>
              <a:rPr lang="en-US" dirty="0" err="1">
                <a:latin typeface="Courier New" charset="0"/>
                <a:ea typeface="ＭＳ Ｐゴシック" charset="0"/>
              </a:rPr>
              <a:t>a,b,c</a:t>
            </a:r>
            <a:r>
              <a:rPr lang="en-US" dirty="0">
                <a:latin typeface="Courier New" charset="0"/>
                <a:ea typeface="ＭＳ Ｐゴシック" charset="0"/>
              </a:rPr>
              <a:t>) =.. [F, A1, A2, A3]</a:t>
            </a:r>
          </a:p>
          <a:p>
            <a:pPr marL="742950" lvl="1" eaLnBrk="1" hangingPunct="1">
              <a:lnSpc>
                <a:spcPct val="90000"/>
              </a:lnSpc>
              <a:buFont typeface="Times New Roman" charset="0"/>
              <a:buNone/>
              <a:defRPr/>
            </a:pPr>
            <a:r>
              <a:rPr lang="en-US" dirty="0">
                <a:latin typeface="Courier New" charset="0"/>
                <a:ea typeface="ＭＳ Ｐゴシック" charset="0"/>
              </a:rPr>
              <a:t>F = foo</a:t>
            </a:r>
          </a:p>
          <a:p>
            <a:pPr marL="742950" lvl="1" eaLnBrk="1" hangingPunct="1">
              <a:lnSpc>
                <a:spcPct val="90000"/>
              </a:lnSpc>
              <a:buFont typeface="Times New Roman" charset="0"/>
              <a:buNone/>
              <a:defRPr/>
            </a:pPr>
            <a:r>
              <a:rPr lang="en-US" dirty="0">
                <a:latin typeface="Courier New" charset="0"/>
                <a:ea typeface="ＭＳ Ｐゴシック" charset="0"/>
              </a:rPr>
              <a:t>A1 = a</a:t>
            </a:r>
          </a:p>
          <a:p>
            <a:pPr marL="742950" lvl="1" eaLnBrk="1" hangingPunct="1">
              <a:lnSpc>
                <a:spcPct val="90000"/>
              </a:lnSpc>
              <a:buFont typeface="Times New Roman" charset="0"/>
              <a:buNone/>
              <a:defRPr/>
            </a:pPr>
            <a:r>
              <a:rPr lang="en-US" dirty="0">
                <a:latin typeface="Courier New" charset="0"/>
                <a:ea typeface="ＭＳ Ｐゴシック" charset="0"/>
              </a:rPr>
              <a:t>A2 = b</a:t>
            </a:r>
          </a:p>
          <a:p>
            <a:pPr marL="742950" lvl="1" eaLnBrk="1" hangingPunct="1">
              <a:lnSpc>
                <a:spcPct val="90000"/>
              </a:lnSpc>
              <a:buFont typeface="Times New Roman" charset="0"/>
              <a:buNone/>
              <a:defRPr/>
            </a:pPr>
            <a:r>
              <a:rPr lang="en-US" dirty="0">
                <a:latin typeface="Courier New" charset="0"/>
                <a:ea typeface="ＭＳ Ｐゴシック" charset="0"/>
              </a:rPr>
              <a:t>A3 = c</a:t>
            </a:r>
            <a:endParaRPr lang="en-US" sz="2000" dirty="0">
              <a:latin typeface="Times New Roman" charset="0"/>
              <a:ea typeface="ＭＳ Ｐゴシック" charset="0"/>
            </a:endParaRPr>
          </a:p>
          <a:p>
            <a:pPr marL="742950" lvl="1" eaLnBrk="1" hangingPunct="1">
              <a:lnSpc>
                <a:spcPct val="90000"/>
              </a:lnSpc>
              <a:defRPr/>
            </a:pPr>
            <a:endParaRPr lang="en-US" sz="2000" dirty="0">
              <a:latin typeface="Times New Roman" charset="0"/>
              <a:ea typeface="ＭＳ Ｐゴシック" charset="0"/>
            </a:endParaRPr>
          </a:p>
        </p:txBody>
      </p:sp>
    </p:spTree>
    <p:extLst>
      <p:ext uri="{BB962C8B-B14F-4D97-AF65-F5344CB8AC3E}">
        <p14:creationId xmlns:p14="http://schemas.microsoft.com/office/powerpoint/2010/main" val="2485174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Dynamic goals</a:t>
            </a:r>
          </a:p>
        </p:txBody>
      </p:sp>
      <p:sp>
        <p:nvSpPr>
          <p:cNvPr id="26633" name="Rectangle 9"/>
          <p:cNvSpPr>
            <a:spLocks noGrp="1" noChangeArrowheads="1"/>
          </p:cNvSpPr>
          <p:nvPr>
            <p:ph type="body" idx="4294967295"/>
          </p:nvPr>
        </p:nvSpPr>
        <p:spPr>
          <a:xfrm>
            <a:off x="152400" y="1219200"/>
            <a:ext cx="8763000" cy="51054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defRPr/>
            </a:pPr>
            <a:r>
              <a:rPr lang="en-US" dirty="0">
                <a:latin typeface="Times New Roman" charset="0"/>
                <a:ea typeface="ＭＳ Ｐゴシック" charset="0"/>
              </a:rPr>
              <a:t>Taken together, we can attempt to satisfy goals that are created at run-time only:</a:t>
            </a:r>
          </a:p>
          <a:p>
            <a:pPr marL="742950" lvl="1" eaLnBrk="1" hangingPunct="1">
              <a:buFont typeface="Times New Roman" charset="0"/>
              <a:buNone/>
              <a:defRPr/>
            </a:pPr>
            <a:r>
              <a:rPr lang="en-US" sz="2400" dirty="0" err="1">
                <a:latin typeface="Courier New" charset="0"/>
                <a:ea typeface="ＭＳ Ｐゴシック" charset="0"/>
              </a:rPr>
              <a:t>param_loop</a:t>
            </a:r>
            <a:r>
              <a:rPr lang="en-US" sz="2400" dirty="0">
                <a:latin typeface="Courier New" charset="0"/>
                <a:ea typeface="ＭＳ Ｐゴシック" charset="0"/>
              </a:rPr>
              <a:t>(L, H, F) :- natural(I), I &gt;= L,</a:t>
            </a:r>
          </a:p>
          <a:p>
            <a:pPr marL="742950" lvl="1" eaLnBrk="1" hangingPunct="1">
              <a:buFont typeface="Times New Roman" charset="0"/>
              <a:buNone/>
              <a:defRPr/>
            </a:pPr>
            <a:r>
              <a:rPr lang="en-US" sz="2400" dirty="0">
                <a:latin typeface="Courier New" charset="0"/>
                <a:ea typeface="ＭＳ Ｐゴシック" charset="0"/>
              </a:rPr>
              <a:t>				G =.. [F, I], call(G), I=H, !.</a:t>
            </a:r>
            <a:endParaRPr lang="en-US" sz="2400" dirty="0">
              <a:latin typeface="Times New Roman" charset="0"/>
              <a:ea typeface="ＭＳ Ｐゴシック" charset="0"/>
            </a:endParaRPr>
          </a:p>
          <a:p>
            <a:pPr eaLnBrk="1" hangingPunct="1">
              <a:defRPr/>
            </a:pPr>
            <a:r>
              <a:rPr lang="en-US" dirty="0">
                <a:latin typeface="Times New Roman" charset="0"/>
                <a:ea typeface="ＭＳ Ｐゴシック" charset="0"/>
              </a:rPr>
              <a:t>Then calling:</a:t>
            </a:r>
          </a:p>
          <a:p>
            <a:pPr marL="742950" lvl="1" eaLnBrk="1" hangingPunct="1">
              <a:buFont typeface="Times New Roman" charset="0"/>
              <a:buNone/>
              <a:defRPr/>
            </a:pPr>
            <a:r>
              <a:rPr lang="en-US" dirty="0">
                <a:latin typeface="Courier New" charset="0"/>
                <a:ea typeface="ＭＳ Ｐゴシック" charset="0"/>
              </a:rPr>
              <a:t>?- </a:t>
            </a:r>
            <a:r>
              <a:rPr lang="en-US" dirty="0" err="1">
                <a:latin typeface="Courier New" charset="0"/>
                <a:ea typeface="ＭＳ Ｐゴシック" charset="0"/>
              </a:rPr>
              <a:t>param_loop</a:t>
            </a:r>
            <a:r>
              <a:rPr lang="en-US" dirty="0">
                <a:latin typeface="Courier New" charset="0"/>
                <a:ea typeface="ＭＳ Ｐゴシック" charset="0"/>
              </a:rPr>
              <a:t>(5, 10, write).</a:t>
            </a:r>
          </a:p>
          <a:p>
            <a:pPr marL="742950" lvl="1" eaLnBrk="1" hangingPunct="1">
              <a:buFont typeface="Times New Roman" charset="0"/>
              <a:buNone/>
              <a:defRPr/>
            </a:pPr>
            <a:r>
              <a:rPr lang="en-US" dirty="0">
                <a:latin typeface="Courier New" charset="0"/>
                <a:ea typeface="ＭＳ Ｐゴシック" charset="0"/>
              </a:rPr>
              <a:t>5678910</a:t>
            </a:r>
          </a:p>
          <a:p>
            <a:pPr marL="742950" lvl="1" eaLnBrk="1" hangingPunct="1">
              <a:buFont typeface="Times New Roman" charset="0"/>
              <a:buNone/>
              <a:defRPr/>
            </a:pPr>
            <a:r>
              <a:rPr lang="en-US" dirty="0">
                <a:latin typeface="Courier New" charset="0"/>
                <a:ea typeface="ＭＳ Ｐゴシック" charset="0"/>
              </a:rPr>
              <a:t>Yes</a:t>
            </a:r>
            <a:endParaRPr lang="en-US" sz="2000" dirty="0">
              <a:latin typeface="Times New Roman" charset="0"/>
              <a:ea typeface="ＭＳ Ｐゴシック" charset="0"/>
            </a:endParaRPr>
          </a:p>
          <a:p>
            <a:pPr marL="742950" lvl="1" eaLnBrk="1" hangingPunct="1">
              <a:lnSpc>
                <a:spcPct val="90000"/>
              </a:lnSpc>
              <a:defRPr/>
            </a:pPr>
            <a:endParaRPr lang="en-US" sz="2000" dirty="0">
              <a:latin typeface="Times New Roman" charset="0"/>
              <a:ea typeface="ＭＳ Ｐゴシック" charset="0"/>
            </a:endParaRPr>
          </a:p>
        </p:txBody>
      </p:sp>
    </p:spTree>
    <p:extLst>
      <p:ext uri="{BB962C8B-B14F-4D97-AF65-F5344CB8AC3E}">
        <p14:creationId xmlns:p14="http://schemas.microsoft.com/office/powerpoint/2010/main" val="4195143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An example: DFAs</a:t>
            </a:r>
          </a:p>
        </p:txBody>
      </p:sp>
      <p:sp>
        <p:nvSpPr>
          <p:cNvPr id="26633" name="Rectangle 9"/>
          <p:cNvSpPr>
            <a:spLocks noGrp="1" noChangeArrowheads="1"/>
          </p:cNvSpPr>
          <p:nvPr>
            <p:ph type="body" idx="4294967295"/>
          </p:nvPr>
        </p:nvSpPr>
        <p:spPr>
          <a:xfrm>
            <a:off x="152400" y="1219200"/>
            <a:ext cx="8763000" cy="51054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defRPr/>
            </a:pPr>
            <a:r>
              <a:rPr lang="en-US" sz="2400" dirty="0">
                <a:latin typeface="Times New Roman" charset="0"/>
                <a:ea typeface="ＭＳ Ｐゴシック" charset="0"/>
              </a:rPr>
              <a:t>As a more interesting example, prolog is also really good and simulating DFAs and NFAs. </a:t>
            </a:r>
          </a:p>
          <a:p>
            <a:pPr eaLnBrk="1" hangingPunct="1">
              <a:defRPr/>
            </a:pPr>
            <a:r>
              <a:rPr lang="en-US" sz="2400" dirty="0">
                <a:latin typeface="Times New Roman" charset="0"/>
                <a:ea typeface="ＭＳ Ｐゴシック" charset="0"/>
              </a:rPr>
              <a:t>We’ll talk about DFAs</a:t>
            </a:r>
          </a:p>
          <a:p>
            <a:pPr eaLnBrk="1" hangingPunct="1">
              <a:defRPr/>
            </a:pPr>
            <a:r>
              <a:rPr lang="en-US" sz="2400" dirty="0">
                <a:latin typeface="Times New Roman" charset="0"/>
                <a:ea typeface="ＭＳ Ｐゴシック" charset="0"/>
              </a:rPr>
              <a:t>My example: taken from</a:t>
            </a:r>
          </a:p>
          <a:p>
            <a:pPr lvl="1" eaLnBrk="1" hangingPunct="1">
              <a:defRPr/>
            </a:pPr>
            <a:r>
              <a:rPr lang="en-US" sz="2000" dirty="0">
                <a:latin typeface="Times New Roman" charset="0"/>
                <a:ea typeface="ＭＳ Ｐゴシック" charset="0"/>
                <a:hlinkClick r:id="rId2"/>
              </a:rPr>
              <a:t>https://www.cpp.edu/~jrfisher/www/prolog_tutorial</a:t>
            </a:r>
            <a:r>
              <a:rPr lang="en-US" sz="1600" dirty="0">
                <a:latin typeface="Times New Roman" charset="0"/>
                <a:ea typeface="ＭＳ Ｐゴシック" charset="0"/>
                <a:hlinkClick r:id="rId2"/>
              </a:rPr>
              <a:t>/2_14.html</a:t>
            </a:r>
            <a:endParaRPr lang="en-US" sz="1600" dirty="0">
              <a:latin typeface="Times New Roman" charset="0"/>
              <a:ea typeface="ＭＳ Ｐゴシック" charset="0"/>
            </a:endParaRPr>
          </a:p>
          <a:p>
            <a:pPr eaLnBrk="1" hangingPunct="1">
              <a:defRPr/>
            </a:pPr>
            <a:r>
              <a:rPr lang="en-US" sz="2400" dirty="0">
                <a:latin typeface="Times New Roman" charset="0"/>
                <a:ea typeface="ＭＳ Ｐゴシック" charset="0"/>
              </a:rPr>
              <a:t>Things to note:</a:t>
            </a:r>
          </a:p>
          <a:p>
            <a:pPr lvl="1" eaLnBrk="1" hangingPunct="1">
              <a:defRPr/>
            </a:pPr>
            <a:r>
              <a:rPr lang="en-US" sz="2000" dirty="0">
                <a:latin typeface="Times New Roman" charset="0"/>
                <a:ea typeface="ＭＳ Ｐゴシック" charset="0"/>
              </a:rPr>
              <a:t>This prints for you!</a:t>
            </a:r>
          </a:p>
          <a:p>
            <a:pPr lvl="1" eaLnBrk="1" hangingPunct="1">
              <a:defRPr/>
            </a:pPr>
            <a:r>
              <a:rPr lang="en-US" sz="2000" dirty="0">
                <a:latin typeface="Times New Roman" charset="0"/>
                <a:ea typeface="ＭＳ Ｐゴシック" charset="0"/>
              </a:rPr>
              <a:t>The transition function takes an input and moves along an “arrow”</a:t>
            </a:r>
          </a:p>
          <a:p>
            <a:pPr lvl="1" eaLnBrk="1" hangingPunct="1">
              <a:defRPr/>
            </a:pPr>
            <a:r>
              <a:rPr lang="en-US" sz="2000" dirty="0">
                <a:latin typeface="Times New Roman" charset="0"/>
                <a:ea typeface="ＭＳ Ｐゴシック" charset="0"/>
              </a:rPr>
              <a:t>For NFAs, your job will be to add multiple possible transitions and empty transitions</a:t>
            </a:r>
          </a:p>
        </p:txBody>
      </p:sp>
    </p:spTree>
    <p:extLst>
      <p:ext uri="{BB962C8B-B14F-4D97-AF65-F5344CB8AC3E}">
        <p14:creationId xmlns:p14="http://schemas.microsoft.com/office/powerpoint/2010/main" val="2326760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3079" name="Rectangle 7"/>
          <p:cNvSpPr>
            <a:spLocks/>
          </p:cNvSpPr>
          <p:nvPr/>
        </p:nvSpPr>
        <p:spPr bwMode="auto">
          <a:xfrm>
            <a:off x="177800" y="6248400"/>
            <a:ext cx="2908300" cy="241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40639" bIns="0"/>
          <a:lstStyle/>
          <a:p>
            <a:pPr marL="39688"/>
            <a:r>
              <a:rPr lang="en-US" sz="1000">
                <a:solidFill>
                  <a:schemeClr val="tx1"/>
                </a:solidFill>
                <a:latin typeface="Arial" charset="0"/>
                <a:cs typeface="Arial" charset="0"/>
                <a:sym typeface="Arial" charset="0"/>
              </a:rPr>
              <a:t>Copyright © 2009 Elsevier</a:t>
            </a:r>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Another example to recap</a:t>
            </a: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r>
              <a:rPr lang="en-US" dirty="0">
                <a:latin typeface="Times New Roman" charset="0"/>
                <a:ea typeface="ＭＳ Ｐゴシック" charset="0"/>
              </a:rPr>
              <a:t>Consider 4 coloring a map.</a:t>
            </a:r>
          </a:p>
          <a:p>
            <a:pPr eaLnBrk="1" hangingPunct="1">
              <a:lnSpc>
                <a:spcPct val="90000"/>
              </a:lnSpc>
              <a:defRPr/>
            </a:pPr>
            <a:r>
              <a:rPr lang="en-US" dirty="0">
                <a:latin typeface="Times New Roman" charset="0"/>
                <a:ea typeface="ＭＳ Ｐゴシック" charset="0"/>
              </a:rPr>
              <a:t>Classical example of an NP-Hard problem, so the best we can hope for is exponential time.</a:t>
            </a:r>
          </a:p>
          <a:p>
            <a:pPr eaLnBrk="1" hangingPunct="1">
              <a:lnSpc>
                <a:spcPct val="90000"/>
              </a:lnSpc>
              <a:defRPr/>
            </a:pPr>
            <a:r>
              <a:rPr lang="en-US" dirty="0">
                <a:latin typeface="Times New Roman" charset="0"/>
                <a:ea typeface="ＭＳ Ｐゴシック" charset="0"/>
              </a:rPr>
              <a:t>NOT easy to code in many languages:</a:t>
            </a:r>
          </a:p>
          <a:p>
            <a:pPr lvl="1" eaLnBrk="1" hangingPunct="1">
              <a:lnSpc>
                <a:spcPct val="90000"/>
              </a:lnSpc>
              <a:defRPr/>
            </a:pPr>
            <a:r>
              <a:rPr lang="en-US" sz="1800" dirty="0">
                <a:latin typeface="Times New Roman" charset="0"/>
                <a:ea typeface="ＭＳ Ｐゴシック" charset="0"/>
                <a:hlinkClick r:id="rId2"/>
              </a:rPr>
              <a:t>http://www.cplusplus.com/forum/general/123813/</a:t>
            </a:r>
            <a:endParaRPr lang="en-US" sz="1800" dirty="0">
              <a:latin typeface="Times New Roman" charset="0"/>
              <a:ea typeface="ＭＳ Ｐゴシック" charset="0"/>
            </a:endParaRPr>
          </a:p>
          <a:p>
            <a:pPr lvl="1" eaLnBrk="1" hangingPunct="1">
              <a:lnSpc>
                <a:spcPct val="90000"/>
              </a:lnSpc>
              <a:defRPr/>
            </a:pPr>
            <a:r>
              <a:rPr lang="en-US" sz="1800" dirty="0">
                <a:latin typeface="Times New Roman" charset="0"/>
                <a:ea typeface="ＭＳ Ｐゴシック" charset="0"/>
                <a:hlinkClick r:id="rId3"/>
              </a:rPr>
              <a:t>https://handcraftsman.wordpress.com/2015/06/21/four-coloring-a-graph-of-u-s-states-with-python-and-a-ga/</a:t>
            </a:r>
            <a:endParaRPr lang="en-US" sz="1800" dirty="0">
              <a:latin typeface="Times New Roman" charset="0"/>
              <a:ea typeface="ＭＳ Ｐゴシック" charset="0"/>
            </a:endParaRPr>
          </a:p>
          <a:p>
            <a:pPr lvl="1" eaLnBrk="1" hangingPunct="1">
              <a:lnSpc>
                <a:spcPct val="90000"/>
              </a:lnSpc>
              <a:defRPr/>
            </a:pPr>
            <a:r>
              <a:rPr lang="en-US" sz="1800" dirty="0">
                <a:latin typeface="Times New Roman" charset="0"/>
                <a:ea typeface="ＭＳ Ｐゴシック" charset="0"/>
              </a:rPr>
              <a:t>http://</a:t>
            </a:r>
            <a:r>
              <a:rPr lang="en-US" sz="1800" dirty="0" err="1">
                <a:latin typeface="Times New Roman" charset="0"/>
                <a:ea typeface="ＭＳ Ｐゴシック" charset="0"/>
              </a:rPr>
              <a:t>www.sanfoundry.com</a:t>
            </a:r>
            <a:r>
              <a:rPr lang="en-US" sz="1800" dirty="0">
                <a:latin typeface="Times New Roman" charset="0"/>
                <a:ea typeface="ＭＳ Ｐゴシック" charset="0"/>
              </a:rPr>
              <a:t>/java-program-graph-coloring-algorithm/</a:t>
            </a:r>
          </a:p>
          <a:p>
            <a:pPr lvl="1" eaLnBrk="1" hangingPunct="1">
              <a:lnSpc>
                <a:spcPct val="90000"/>
              </a:lnSpc>
              <a:defRPr/>
            </a:pPr>
            <a:endParaRPr lang="en-US" dirty="0">
              <a:latin typeface="Times New Roman" charset="0"/>
              <a:ea typeface="ＭＳ Ｐゴシック" charset="0"/>
            </a:endParaRPr>
          </a:p>
        </p:txBody>
      </p:sp>
      <p:pic>
        <p:nvPicPr>
          <p:cNvPr id="3082"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343400"/>
            <a:ext cx="3505200" cy="2168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1211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p:nvPr>
        </p:nvSpPr>
        <p:spPr>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Prolog – 3 coloring:</a:t>
            </a:r>
          </a:p>
        </p:txBody>
      </p:sp>
      <p:sp>
        <p:nvSpPr>
          <p:cNvPr id="26633" name="Rectangle 9"/>
          <p:cNvSpPr>
            <a:spLocks noGrp="1" noChangeArrowheads="1"/>
          </p:cNvSpPr>
          <p:nvPr>
            <p:ph sz="half" idx="1"/>
          </p:nvPr>
        </p:nvSpPr>
        <p:spPr>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r>
              <a:rPr lang="en-US" dirty="0">
                <a:latin typeface="Times New Roman" charset="0"/>
                <a:ea typeface="ＭＳ Ｐゴシック" charset="0"/>
              </a:rPr>
              <a:t>Let’s try a small example of this in prolog</a:t>
            </a:r>
          </a:p>
          <a:p>
            <a:pPr lvl="1" eaLnBrk="1" hangingPunct="1">
              <a:lnSpc>
                <a:spcPct val="90000"/>
              </a:lnSpc>
              <a:defRPr/>
            </a:pPr>
            <a:r>
              <a:rPr lang="en-US" dirty="0">
                <a:latin typeface="Times New Roman" charset="0"/>
                <a:ea typeface="ＭＳ Ｐゴシック" charset="0"/>
              </a:rPr>
              <a:t>Extending bigger is easy, since will just need more predicates for neighbors</a:t>
            </a:r>
          </a:p>
          <a:p>
            <a:pPr eaLnBrk="1" hangingPunct="1">
              <a:lnSpc>
                <a:spcPct val="90000"/>
              </a:lnSpc>
              <a:defRPr/>
            </a:pPr>
            <a:r>
              <a:rPr lang="en-US" dirty="0">
                <a:latin typeface="Times New Roman" charset="0"/>
                <a:ea typeface="ＭＳ Ｐゴシック" charset="0"/>
              </a:rPr>
              <a:t>Base assertions will just be that colors need to be different, and neighbors can’t be the same </a:t>
            </a:r>
          </a:p>
          <a:p>
            <a:pPr lvl="1" eaLnBrk="1" hangingPunct="1">
              <a:lnSpc>
                <a:spcPct val="90000"/>
              </a:lnSpc>
              <a:defRPr/>
            </a:pPr>
            <a:r>
              <a:rPr lang="en-US" dirty="0">
                <a:latin typeface="Times New Roman" charset="0"/>
                <a:ea typeface="ＭＳ Ｐゴシック" charset="0"/>
              </a:rPr>
              <a:t>See code on webpage</a:t>
            </a:r>
          </a:p>
        </p:txBody>
      </p:sp>
      <p:pic>
        <p:nvPicPr>
          <p:cNvPr id="3" name="Content Placeholder 2" descr="Screen Shot 2017-04-21 at 8.10.11 AM.png"/>
          <p:cNvPicPr>
            <a:picLocks noGrp="1" noChangeAspect="1"/>
          </p:cNvPicPr>
          <p:nvPr>
            <p:ph sz="half" idx="2"/>
          </p:nvPr>
        </p:nvPicPr>
        <p:blipFill>
          <a:blip r:embed="rId2">
            <a:extLst>
              <a:ext uri="{28A0092B-C50C-407E-A947-70E740481C1C}">
                <a14:useLocalDpi xmlns:a14="http://schemas.microsoft.com/office/drawing/2010/main" val="0"/>
              </a:ext>
            </a:extLst>
          </a:blip>
          <a:srcRect t="-29504" b="-29504"/>
          <a:stretch>
            <a:fillRect/>
          </a:stretch>
        </p:blipFill>
        <p:spPr/>
      </p:pic>
    </p:spTree>
    <p:extLst>
      <p:ext uri="{BB962C8B-B14F-4D97-AF65-F5344CB8AC3E}">
        <p14:creationId xmlns:p14="http://schemas.microsoft.com/office/powerpoint/2010/main" val="4056521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7"/>
          <p:cNvSpPr>
            <a:spLocks/>
          </p:cNvSpPr>
          <p:nvPr/>
        </p:nvSpPr>
        <p:spPr bwMode="auto">
          <a:xfrm>
            <a:off x="177800" y="6248400"/>
            <a:ext cx="2908300" cy="241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40639" bIns="0"/>
          <a:lstStyle/>
          <a:p>
            <a:pPr marL="39688"/>
            <a:r>
              <a:rPr lang="en-US" sz="1000">
                <a:solidFill>
                  <a:schemeClr val="tx1"/>
                </a:solidFill>
                <a:latin typeface="Arial" charset="0"/>
                <a:cs typeface="Arial" charset="0"/>
                <a:sym typeface="Arial" charset="0"/>
              </a:rPr>
              <a:t>Copyright © 2009 Elsevier</a:t>
            </a:r>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Prolog – 4 coloring:</a:t>
            </a:r>
          </a:p>
        </p:txBody>
      </p:sp>
      <p:sp>
        <p:nvSpPr>
          <p:cNvPr id="26633" name="Rectangle 9"/>
          <p:cNvSpPr>
            <a:spLocks noGrp="1" noChangeArrowheads="1"/>
          </p:cNvSpPr>
          <p:nvPr>
            <p:ph type="body" idx="4294967295"/>
          </p:nvPr>
        </p:nvSpPr>
        <p:spPr>
          <a:xfrm>
            <a:off x="152400" y="1219200"/>
            <a:ext cx="8763000" cy="5638800"/>
          </a:xfrm>
          <a:extLst>
            <a:ext uri="{91240B29-F687-4f45-9708-019B960494DF}">
              <a14:hiddenLine xmlns="" xmlns:a14="http://schemas.microsoft.com/office/drawing/2010/main" w="9525">
                <a:solidFill>
                  <a:schemeClr val="tx1"/>
                </a:solidFill>
                <a:miter lim="800000"/>
                <a:headEnd/>
                <a:tailEnd/>
              </a14:hiddenLine>
            </a:ext>
          </a:extLst>
        </p:spPr>
        <p:txBody>
          <a:bodyPr rIns="132080"/>
          <a:lstStyle/>
          <a:p>
            <a:pPr eaLnBrk="1" hangingPunct="1">
              <a:lnSpc>
                <a:spcPct val="90000"/>
              </a:lnSpc>
              <a:defRPr/>
            </a:pPr>
            <a:r>
              <a:rPr lang="en-US" dirty="0">
                <a:latin typeface="Times New Roman" charset="0"/>
                <a:ea typeface="ＭＳ Ｐゴシック" charset="0"/>
              </a:rPr>
              <a:t>There are also other ways to do this, that pull in more logic like what we saw in the first part of lecture.</a:t>
            </a:r>
          </a:p>
          <a:p>
            <a:pPr eaLnBrk="1" hangingPunct="1">
              <a:lnSpc>
                <a:spcPct val="90000"/>
              </a:lnSpc>
              <a:defRPr/>
            </a:pPr>
            <a:r>
              <a:rPr lang="en-US" dirty="0">
                <a:latin typeface="Times New Roman" charset="0"/>
                <a:ea typeface="ＭＳ Ｐゴシック" charset="0"/>
              </a:rPr>
              <a:t>See (for example):</a:t>
            </a:r>
          </a:p>
          <a:p>
            <a:pPr lvl="1" eaLnBrk="1" hangingPunct="1">
              <a:lnSpc>
                <a:spcPct val="90000"/>
              </a:lnSpc>
              <a:defRPr/>
            </a:pPr>
            <a:r>
              <a:rPr lang="en-US" dirty="0">
                <a:latin typeface="Times New Roman" charset="0"/>
                <a:ea typeface="ＭＳ Ｐゴシック" charset="0"/>
                <a:hlinkClick r:id="rId2"/>
              </a:rPr>
              <a:t>https://bernardopires.com/2013/10/try-logic-programming-a-gentle-introduction-to-prolog/</a:t>
            </a:r>
            <a:endParaRPr lang="en-US" dirty="0">
              <a:latin typeface="Times New Roman" charset="0"/>
              <a:ea typeface="ＭＳ Ｐゴシック" charset="0"/>
            </a:endParaRPr>
          </a:p>
          <a:p>
            <a:pPr lvl="1" eaLnBrk="1" hangingPunct="1">
              <a:lnSpc>
                <a:spcPct val="90000"/>
              </a:lnSpc>
              <a:defRPr/>
            </a:pPr>
            <a:r>
              <a:rPr lang="en-US" dirty="0">
                <a:latin typeface="Times New Roman" charset="0"/>
                <a:ea typeface="ＭＳ Ｐゴシック" charset="0"/>
                <a:hlinkClick r:id="rId3"/>
              </a:rPr>
              <a:t>https://www.cpp.edu/~jrfisher/www/prolog_tutorial/2_1.html</a:t>
            </a:r>
            <a:endParaRPr lang="en-US" dirty="0">
              <a:latin typeface="Times New Roman" charset="0"/>
              <a:ea typeface="ＭＳ Ｐゴシック" charset="0"/>
            </a:endParaRPr>
          </a:p>
        </p:txBody>
      </p:sp>
    </p:spTree>
    <p:extLst>
      <p:ext uri="{BB962C8B-B14F-4D97-AF65-F5344CB8AC3E}">
        <p14:creationId xmlns:p14="http://schemas.microsoft.com/office/powerpoint/2010/main" val="1866516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p:cNvSpPr>
          <p:nvPr/>
        </p:nvSpPr>
        <p:spPr bwMode="auto">
          <a:xfrm>
            <a:off x="8001000" y="0"/>
            <a:ext cx="1143000" cy="381000"/>
          </a:xfrm>
          <a:prstGeom prst="rect">
            <a:avLst/>
          </a:prstGeom>
          <a:solidFill>
            <a:srgbClr val="FF9900"/>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lIns="0" tIns="0" rIns="0" bIns="0"/>
          <a:lstStyle/>
          <a:p>
            <a:endParaRPr lang="en-US"/>
          </a:p>
        </p:txBody>
      </p:sp>
      <p:sp>
        <p:nvSpPr>
          <p:cNvPr id="15362" name="Rectangle 2"/>
          <p:cNvSpPr>
            <a:spLocks/>
          </p:cNvSpPr>
          <p:nvPr/>
        </p:nvSpPr>
        <p:spPr bwMode="auto">
          <a:xfrm>
            <a:off x="0" y="6781800"/>
            <a:ext cx="8991600" cy="76200"/>
          </a:xfrm>
          <a:prstGeom prst="rect">
            <a:avLst/>
          </a:prstGeom>
          <a:solidFill>
            <a:srgbClr val="B2B2B4"/>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lIns="0" tIns="0" rIns="0" bIns="0"/>
          <a:lstStyle/>
          <a:p>
            <a:endParaRPr lang="en-US"/>
          </a:p>
        </p:txBody>
      </p:sp>
      <p:sp>
        <p:nvSpPr>
          <p:cNvPr id="15363" name="Rectangle 3"/>
          <p:cNvSpPr>
            <a:spLocks/>
          </p:cNvSpPr>
          <p:nvPr/>
        </p:nvSpPr>
        <p:spPr bwMode="auto">
          <a:xfrm>
            <a:off x="8001000" y="6781800"/>
            <a:ext cx="1143000" cy="76200"/>
          </a:xfrm>
          <a:prstGeom prst="rect">
            <a:avLst/>
          </a:prstGeom>
          <a:solidFill>
            <a:srgbClr val="FF9900"/>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lIns="0" tIns="0" rIns="0" bIns="0"/>
          <a:lstStyle/>
          <a:p>
            <a:endParaRPr lang="en-US"/>
          </a:p>
        </p:txBody>
      </p:sp>
      <p:sp>
        <p:nvSpPr>
          <p:cNvPr id="15364" name="Rectangle 4"/>
          <p:cNvSpPr>
            <a:spLocks/>
          </p:cNvSpPr>
          <p:nvPr/>
        </p:nvSpPr>
        <p:spPr bwMode="auto">
          <a:xfrm>
            <a:off x="0" y="6350"/>
            <a:ext cx="8001000" cy="1066800"/>
          </a:xfrm>
          <a:prstGeom prst="rect">
            <a:avLst/>
          </a:prstGeom>
          <a:solidFill>
            <a:srgbClr val="B2B2B4"/>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lIns="0" tIns="0" rIns="0" bIns="0"/>
          <a:lstStyle/>
          <a:p>
            <a:endParaRPr lang="en-US"/>
          </a:p>
        </p:txBody>
      </p:sp>
      <p:sp>
        <p:nvSpPr>
          <p:cNvPr id="15365"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pic>
        <p:nvPicPr>
          <p:cNvPr id="15366" name="Picture 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9113" y="5791200"/>
            <a:ext cx="838200" cy="922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5367" name="Rectangle 7"/>
          <p:cNvSpPr>
            <a:spLocks/>
          </p:cNvSpPr>
          <p:nvPr/>
        </p:nvSpPr>
        <p:spPr bwMode="auto">
          <a:xfrm>
            <a:off x="177800" y="6248400"/>
            <a:ext cx="2908300"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40639" bIns="0"/>
          <a:lstStyle/>
          <a:p>
            <a:pPr marL="39688"/>
            <a:r>
              <a:rPr lang="en-US" sz="1000">
                <a:solidFill>
                  <a:schemeClr val="tx1"/>
                </a:solidFill>
                <a:latin typeface="Arial" charset="0"/>
                <a:cs typeface="Arial" charset="0"/>
                <a:sym typeface="Arial" charset="0"/>
              </a:rPr>
              <a:t>Copyright © 2009 Elsevier</a:t>
            </a:r>
          </a:p>
        </p:txBody>
      </p:sp>
      <p:sp>
        <p:nvSpPr>
          <p:cNvPr id="26632" name="Rectangle 8"/>
          <p:cNvSpPr>
            <a:spLocks noGrp="1" noChangeArrowheads="1"/>
          </p:cNvSpPr>
          <p:nvPr>
            <p:ph type="title" idx="4294967295"/>
          </p:nvPr>
        </p:nvSpPr>
        <p:spPr>
          <a:xfrm>
            <a:off x="-411957" y="-92467"/>
            <a:ext cx="8824913" cy="1447800"/>
          </a:xfrm>
          <a:extLst>
            <a:ext uri="{91240B29-F687-4f45-9708-019B960494DF}">
              <a14:hiddenLine xmlns:a14="http://schemas.microsoft.com/office/drawing/2010/main" xmlns="" w="9525">
                <a:solidFill>
                  <a:schemeClr val="tx1"/>
                </a:solidFill>
                <a:miter lim="800000"/>
                <a:headEnd/>
                <a:tailEnd/>
              </a14:hiddenLine>
            </a:ext>
          </a:extLst>
        </p:spPr>
        <p:txBody>
          <a:bodyPr rIns="132080">
            <a:normAutofit/>
          </a:bodyPr>
          <a:lstStyle/>
          <a:p>
            <a:pPr indent="0" eaLnBrk="1" hangingPunct="1">
              <a:defRPr/>
            </a:pPr>
            <a:r>
              <a:rPr lang="en-US" sz="3200" dirty="0">
                <a:latin typeface="Arial Black" charset="0"/>
                <a:ea typeface="ＭＳ Ｐゴシック" charset="0"/>
              </a:rPr>
              <a:t>My favorite example (in textbook)</a:t>
            </a:r>
          </a:p>
        </p:txBody>
      </p:sp>
      <p:sp>
        <p:nvSpPr>
          <p:cNvPr id="26633" name="Rectangle 9"/>
          <p:cNvSpPr>
            <a:spLocks noGrp="1" noChangeArrowheads="1"/>
          </p:cNvSpPr>
          <p:nvPr>
            <p:ph type="body" idx="4294967295"/>
          </p:nvPr>
        </p:nvSpPr>
        <p:spPr>
          <a:xfrm>
            <a:off x="152400" y="1219200"/>
            <a:ext cx="8763000" cy="5105400"/>
          </a:xfrm>
          <a:extLst>
            <a:ext uri="{91240B29-F687-4f45-9708-019B960494DF}">
              <a14:hiddenLine xmlns:a14="http://schemas.microsoft.com/office/drawing/2010/main" xmlns="" w="9525">
                <a:solidFill>
                  <a:schemeClr val="tx1"/>
                </a:solidFill>
                <a:miter lim="800000"/>
                <a:headEnd/>
                <a:tailEnd/>
              </a14:hiddenLine>
            </a:ext>
          </a:extLst>
        </p:spPr>
        <p:txBody>
          <a:bodyPr rIns="132080"/>
          <a:lstStyle/>
          <a:p>
            <a:pPr eaLnBrk="1" hangingPunct="1">
              <a:defRPr/>
            </a:pPr>
            <a:r>
              <a:rPr lang="en-US" sz="2400" dirty="0">
                <a:latin typeface="Times New Roman" charset="0"/>
                <a:ea typeface="ＭＳ Ｐゴシック" charset="0"/>
              </a:rPr>
              <a:t>It is worth reiterating that prolog is NOT really a traditional language which executes statements in a von Neumann-like way.</a:t>
            </a:r>
          </a:p>
          <a:p>
            <a:pPr eaLnBrk="1" hangingPunct="1">
              <a:defRPr/>
            </a:pPr>
            <a:r>
              <a:rPr lang="en-US" sz="2400" dirty="0">
                <a:latin typeface="Times New Roman" charset="0"/>
                <a:ea typeface="ＭＳ Ｐゴシック" charset="0"/>
              </a:rPr>
              <a:t>Prolog does provide some mechanisms for this, but they can be very inefficient (especially if you’re not used to the language).</a:t>
            </a:r>
          </a:p>
          <a:p>
            <a:pPr marL="742950" lvl="1" eaLnBrk="1" hangingPunct="1">
              <a:buFont typeface="Times New Roman" charset="0"/>
              <a:buNone/>
              <a:defRPr/>
            </a:pPr>
            <a:r>
              <a:rPr lang="en-US" sz="2000" dirty="0">
                <a:latin typeface="Courier New" charset="0"/>
                <a:ea typeface="ＭＳ Ｐゴシック" charset="0"/>
              </a:rPr>
              <a:t>sort(L1, L2) := permutation(L1, L2), sorted(L2).</a:t>
            </a:r>
          </a:p>
          <a:p>
            <a:pPr marL="742950" lvl="1" eaLnBrk="1" hangingPunct="1">
              <a:buFont typeface="Times New Roman" charset="0"/>
              <a:buNone/>
              <a:defRPr/>
            </a:pPr>
            <a:r>
              <a:rPr lang="en-US" sz="2000" dirty="0">
                <a:latin typeface="Courier New" charset="0"/>
                <a:ea typeface="ＭＳ Ｐゴシック" charset="0"/>
              </a:rPr>
              <a:t>permutation([], []).</a:t>
            </a:r>
          </a:p>
          <a:p>
            <a:pPr marL="742950" lvl="1" eaLnBrk="1" hangingPunct="1">
              <a:buFont typeface="Times New Roman" charset="0"/>
              <a:buNone/>
              <a:defRPr/>
            </a:pPr>
            <a:r>
              <a:rPr lang="en-US" sz="2000" dirty="0">
                <a:latin typeface="Courier New" charset="0"/>
                <a:ea typeface="ＭＳ Ｐゴシック" charset="0"/>
              </a:rPr>
              <a:t>permutation(L, [H | T]) :- </a:t>
            </a:r>
          </a:p>
          <a:p>
            <a:pPr marL="742950" lvl="1" eaLnBrk="1" hangingPunct="1">
              <a:buFont typeface="Times New Roman" charset="0"/>
              <a:buNone/>
              <a:defRPr/>
            </a:pPr>
            <a:r>
              <a:rPr lang="en-US" sz="2000" dirty="0">
                <a:latin typeface="Courier New" charset="0"/>
                <a:ea typeface="ＭＳ Ｐゴシック" charset="0"/>
              </a:rPr>
              <a:t>					append(P, [H | S], L), </a:t>
            </a:r>
          </a:p>
          <a:p>
            <a:pPr marL="742950" lvl="1" eaLnBrk="1" hangingPunct="1">
              <a:buFont typeface="Times New Roman" charset="0"/>
              <a:buNone/>
              <a:defRPr/>
            </a:pPr>
            <a:r>
              <a:rPr lang="en-US" sz="2000" dirty="0">
                <a:latin typeface="Courier New" charset="0"/>
                <a:ea typeface="ＭＳ Ｐゴシック" charset="0"/>
              </a:rPr>
              <a:t>					append(P, S, W), </a:t>
            </a:r>
          </a:p>
          <a:p>
            <a:pPr marL="742950" lvl="1" eaLnBrk="1" hangingPunct="1">
              <a:buFont typeface="Times New Roman" charset="0"/>
              <a:buNone/>
              <a:defRPr/>
            </a:pPr>
            <a:r>
              <a:rPr lang="en-US" sz="2000" dirty="0">
                <a:latin typeface="Courier New" charset="0"/>
                <a:ea typeface="ＭＳ Ｐゴシック" charset="0"/>
              </a:rPr>
              <a:t>					permutation(W,T).</a:t>
            </a:r>
            <a:endParaRPr lang="en-US" sz="2000" dirty="0">
              <a:latin typeface="Times New Roman" charset="0"/>
              <a:ea typeface="ＭＳ Ｐゴシック" charset="0"/>
            </a:endParaRPr>
          </a:p>
          <a:p>
            <a:pPr eaLnBrk="1" hangingPunct="1">
              <a:defRPr/>
            </a:pPr>
            <a:r>
              <a:rPr lang="en-US" sz="2400" dirty="0">
                <a:latin typeface="Times New Roman" charset="0"/>
                <a:ea typeface="ＭＳ Ｐゴシック" charset="0"/>
              </a:rPr>
              <a:t>If this looks confusing, don’t worry.  We’re essentially saying L2 is a sorted version of L1 if it’s a permutation of L1 and it is sorted.</a:t>
            </a:r>
          </a:p>
          <a:p>
            <a:pPr eaLnBrk="1" hangingPunct="1">
              <a:defRPr/>
            </a:pPr>
            <a:r>
              <a:rPr lang="en-US" sz="2400" dirty="0">
                <a:latin typeface="Times New Roman" charset="0"/>
                <a:ea typeface="ＭＳ Ｐゴシック" charset="0"/>
              </a:rPr>
              <a:t>This version takes exponential time.  Why?</a:t>
            </a:r>
            <a:endParaRPr lang="en-US" sz="2400" dirty="0">
              <a:latin typeface="Courier New" charset="0"/>
              <a:ea typeface="ＭＳ Ｐゴシック" charset="0"/>
            </a:endParaRPr>
          </a:p>
        </p:txBody>
      </p:sp>
    </p:spTree>
    <p:extLst>
      <p:ext uri="{BB962C8B-B14F-4D97-AF65-F5344CB8AC3E}">
        <p14:creationId xmlns:p14="http://schemas.microsoft.com/office/powerpoint/2010/main" val="114185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p:cNvSpPr>
          <p:nvPr/>
        </p:nvSpPr>
        <p:spPr bwMode="auto">
          <a:xfrm>
            <a:off x="8001000" y="0"/>
            <a:ext cx="1143000" cy="381000"/>
          </a:xfrm>
          <a:prstGeom prst="rect">
            <a:avLst/>
          </a:prstGeom>
          <a:solidFill>
            <a:srgbClr val="FF9900"/>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lIns="0" tIns="0" rIns="0" bIns="0"/>
          <a:lstStyle/>
          <a:p>
            <a:endParaRPr lang="en-US"/>
          </a:p>
        </p:txBody>
      </p:sp>
      <p:sp>
        <p:nvSpPr>
          <p:cNvPr id="16386" name="Rectangle 2"/>
          <p:cNvSpPr>
            <a:spLocks/>
          </p:cNvSpPr>
          <p:nvPr/>
        </p:nvSpPr>
        <p:spPr bwMode="auto">
          <a:xfrm>
            <a:off x="0" y="6781800"/>
            <a:ext cx="8991600" cy="76200"/>
          </a:xfrm>
          <a:prstGeom prst="rect">
            <a:avLst/>
          </a:prstGeom>
          <a:solidFill>
            <a:srgbClr val="B2B2B4"/>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lIns="0" tIns="0" rIns="0" bIns="0"/>
          <a:lstStyle/>
          <a:p>
            <a:endParaRPr lang="en-US"/>
          </a:p>
        </p:txBody>
      </p:sp>
      <p:sp>
        <p:nvSpPr>
          <p:cNvPr id="16387" name="Rectangle 3"/>
          <p:cNvSpPr>
            <a:spLocks/>
          </p:cNvSpPr>
          <p:nvPr/>
        </p:nvSpPr>
        <p:spPr bwMode="auto">
          <a:xfrm>
            <a:off x="8001000" y="6781800"/>
            <a:ext cx="1143000" cy="76200"/>
          </a:xfrm>
          <a:prstGeom prst="rect">
            <a:avLst/>
          </a:prstGeom>
          <a:solidFill>
            <a:srgbClr val="FF9900"/>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lIns="0" tIns="0" rIns="0" bIns="0"/>
          <a:lstStyle/>
          <a:p>
            <a:endParaRPr lang="en-US"/>
          </a:p>
        </p:txBody>
      </p:sp>
      <p:sp>
        <p:nvSpPr>
          <p:cNvPr id="16388" name="Rectangle 4"/>
          <p:cNvSpPr>
            <a:spLocks/>
          </p:cNvSpPr>
          <p:nvPr/>
        </p:nvSpPr>
        <p:spPr bwMode="auto">
          <a:xfrm>
            <a:off x="0" y="0"/>
            <a:ext cx="8001000" cy="1066800"/>
          </a:xfrm>
          <a:prstGeom prst="rect">
            <a:avLst/>
          </a:prstGeom>
          <a:solidFill>
            <a:srgbClr val="B2B2B4"/>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lIns="0" tIns="0" rIns="0" bIns="0"/>
          <a:lstStyle/>
          <a:p>
            <a:endParaRPr lang="en-US"/>
          </a:p>
        </p:txBody>
      </p:sp>
      <p:sp>
        <p:nvSpPr>
          <p:cNvPr id="16389"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pic>
        <p:nvPicPr>
          <p:cNvPr id="16390" name="Picture 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9113" y="5791200"/>
            <a:ext cx="838200" cy="922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6391" name="Rectangle 7"/>
          <p:cNvSpPr>
            <a:spLocks/>
          </p:cNvSpPr>
          <p:nvPr/>
        </p:nvSpPr>
        <p:spPr bwMode="auto">
          <a:xfrm>
            <a:off x="177800" y="6248400"/>
            <a:ext cx="2908300"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lIns="0" tIns="0" rIns="40639" bIns="0"/>
          <a:lstStyle/>
          <a:p>
            <a:pPr marL="39688"/>
            <a:r>
              <a:rPr lang="en-US" sz="1000">
                <a:solidFill>
                  <a:schemeClr val="tx1"/>
                </a:solidFill>
                <a:latin typeface="Arial" charset="0"/>
                <a:cs typeface="Arial" charset="0"/>
                <a:sym typeface="Arial" charset="0"/>
              </a:rPr>
              <a:t>Copyright © 2009 Elsevier</a:t>
            </a:r>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a14="http://schemas.microsoft.com/office/drawing/2010/main" xmlns="" w="9525">
                <a:solidFill>
                  <a:schemeClr val="tx1"/>
                </a:solidFill>
                <a:miter lim="800000"/>
                <a:headEnd/>
                <a:tailEnd/>
              </a14:hiddenLine>
            </a:ext>
          </a:extLst>
        </p:spPr>
        <p:txBody>
          <a:bodyPr rIns="132080"/>
          <a:lstStyle/>
          <a:p>
            <a:pPr indent="0" eaLnBrk="1" hangingPunct="1">
              <a:defRPr/>
            </a:pPr>
            <a:r>
              <a:rPr lang="en-US" dirty="0">
                <a:latin typeface="Arial Black" charset="0"/>
                <a:ea typeface="ＭＳ Ｐゴシック" charset="0"/>
              </a:rPr>
              <a:t>Sorting: quicksort</a:t>
            </a:r>
          </a:p>
        </p:txBody>
      </p:sp>
      <p:sp>
        <p:nvSpPr>
          <p:cNvPr id="26633" name="Rectangle 9"/>
          <p:cNvSpPr>
            <a:spLocks noGrp="1" noChangeArrowheads="1"/>
          </p:cNvSpPr>
          <p:nvPr>
            <p:ph type="body" idx="4294967295"/>
          </p:nvPr>
        </p:nvSpPr>
        <p:spPr>
          <a:xfrm>
            <a:off x="152400" y="1219200"/>
            <a:ext cx="8763000" cy="5105400"/>
          </a:xfrm>
          <a:extLst>
            <a:ext uri="{91240B29-F687-4f45-9708-019B960494DF}">
              <a14:hiddenLine xmlns:a14="http://schemas.microsoft.com/office/drawing/2010/main" xmlns="" w="9525">
                <a:solidFill>
                  <a:schemeClr val="tx1"/>
                </a:solidFill>
                <a:miter lim="800000"/>
                <a:headEnd/>
                <a:tailEnd/>
              </a14:hiddenLine>
            </a:ext>
          </a:extLst>
        </p:spPr>
        <p:txBody>
          <a:bodyPr rIns="132080"/>
          <a:lstStyle/>
          <a:p>
            <a:pPr eaLnBrk="1" hangingPunct="1">
              <a:defRPr/>
            </a:pPr>
            <a:r>
              <a:rPr lang="en-US" sz="2400">
                <a:latin typeface="Times New Roman" charset="0"/>
                <a:ea typeface="ＭＳ Ｐゴシック" charset="0"/>
              </a:rPr>
              <a:t>Implementing something like quick sort is possible:</a:t>
            </a:r>
          </a:p>
          <a:p>
            <a:pPr marL="742950" lvl="1" eaLnBrk="1" hangingPunct="1">
              <a:buFont typeface="Times New Roman" charset="0"/>
              <a:buNone/>
              <a:defRPr/>
            </a:pPr>
            <a:r>
              <a:rPr lang="en-US" sz="2000">
                <a:latin typeface="Courier New" charset="0"/>
                <a:ea typeface="ＭＳ Ｐゴシック" charset="0"/>
              </a:rPr>
              <a:t>quicksort([], []).</a:t>
            </a:r>
          </a:p>
          <a:p>
            <a:pPr marL="742950" lvl="1" eaLnBrk="1" hangingPunct="1">
              <a:buFont typeface="Times New Roman" charset="0"/>
              <a:buNone/>
              <a:defRPr/>
            </a:pPr>
            <a:r>
              <a:rPr lang="en-US" sz="2000">
                <a:latin typeface="Courier New" charset="0"/>
                <a:ea typeface="ＭＳ Ｐゴシック" charset="0"/>
              </a:rPr>
              <a:t>quicksort([A, L1], L2) :- partition(A, L1, P1, S1),</a:t>
            </a:r>
          </a:p>
          <a:p>
            <a:pPr marL="742950" lvl="1" eaLnBrk="1" hangingPunct="1">
              <a:buFont typeface="Times New Roman" charset="0"/>
              <a:buNone/>
              <a:defRPr/>
            </a:pPr>
            <a:r>
              <a:rPr lang="en-US" sz="2000">
                <a:latin typeface="Courier New" charset="0"/>
                <a:ea typeface="ＭＳ Ｐゴシック" charset="0"/>
              </a:rPr>
              <a:t>   quicksort(P1, P2), quicksort(S1, S2), </a:t>
            </a:r>
          </a:p>
          <a:p>
            <a:pPr marL="742950" lvl="1" eaLnBrk="1" hangingPunct="1">
              <a:buFont typeface="Times New Roman" charset="0"/>
              <a:buNone/>
              <a:defRPr/>
            </a:pPr>
            <a:r>
              <a:rPr lang="en-US" sz="2000">
                <a:latin typeface="Courier New" charset="0"/>
                <a:ea typeface="ＭＳ Ｐゴシック" charset="0"/>
              </a:rPr>
              <a:t>   append(P2, [A | S2], L2).</a:t>
            </a:r>
          </a:p>
          <a:p>
            <a:pPr marL="742950" lvl="1" eaLnBrk="1" hangingPunct="1">
              <a:buFont typeface="Times New Roman" charset="0"/>
              <a:buNone/>
              <a:defRPr/>
            </a:pPr>
            <a:r>
              <a:rPr lang="en-US" sz="2000">
                <a:latin typeface="Courier New" charset="0"/>
                <a:ea typeface="ＭＳ Ｐゴシック" charset="0"/>
              </a:rPr>
              <a:t>partition(A, [], [], []).</a:t>
            </a:r>
          </a:p>
          <a:p>
            <a:pPr marL="742950" lvl="1" eaLnBrk="1" hangingPunct="1">
              <a:buFont typeface="Times New Roman" charset="0"/>
              <a:buNone/>
              <a:defRPr/>
            </a:pPr>
            <a:r>
              <a:rPr lang="en-US" sz="2000">
                <a:latin typeface="Courier New" charset="0"/>
                <a:ea typeface="ＭＳ Ｐゴシック" charset="0"/>
              </a:rPr>
              <a:t>partition(A, [H | T], [H | P], S) :- A &gt;= H, 						partition(A, T, P, S).</a:t>
            </a:r>
          </a:p>
          <a:p>
            <a:pPr marL="742950" lvl="1" eaLnBrk="1" hangingPunct="1">
              <a:buFont typeface="Times New Roman" charset="0"/>
              <a:buNone/>
              <a:defRPr/>
            </a:pPr>
            <a:r>
              <a:rPr lang="en-US" sz="2000">
                <a:latin typeface="Courier New" charset="0"/>
                <a:ea typeface="ＭＳ Ｐゴシック" charset="0"/>
              </a:rPr>
              <a:t>partition(A, [H | T], [P], [H | S]) :- A =&lt; H, 						partition(A, T, P, S).</a:t>
            </a:r>
            <a:endParaRPr lang="en-US" sz="2000">
              <a:latin typeface="Times New Roman" charset="0"/>
              <a:ea typeface="ＭＳ Ｐゴシック" charset="0"/>
            </a:endParaRPr>
          </a:p>
        </p:txBody>
      </p:sp>
    </p:spTree>
    <p:extLst>
      <p:ext uri="{BB962C8B-B14F-4D97-AF65-F5344CB8AC3E}">
        <p14:creationId xmlns:p14="http://schemas.microsoft.com/office/powerpoint/2010/main" val="1412633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Arial" charset="0"/>
                <a:ea typeface="Arial" charset="0"/>
                <a:cs typeface="Arial" charset="0"/>
              </a:rPr>
              <a:t>Another example: queen’s challenge</a:t>
            </a:r>
          </a:p>
        </p:txBody>
      </p:sp>
      <p:sp>
        <p:nvSpPr>
          <p:cNvPr id="3" name="Content Placeholder 2"/>
          <p:cNvSpPr>
            <a:spLocks noGrp="1"/>
          </p:cNvSpPr>
          <p:nvPr>
            <p:ph idx="1"/>
          </p:nvPr>
        </p:nvSpPr>
        <p:spPr/>
        <p:txBody>
          <a:bodyPr/>
          <a:lstStyle/>
          <a:p>
            <a:r>
              <a:rPr lang="en-US" dirty="0"/>
              <a:t>Set n queens on an n by n chess board so that no queen can “take” any other</a:t>
            </a:r>
          </a:p>
        </p:txBody>
      </p:sp>
      <p:pic>
        <p:nvPicPr>
          <p:cNvPr id="4" name="Picture 3"/>
          <p:cNvPicPr>
            <a:picLocks noChangeAspect="1"/>
          </p:cNvPicPr>
          <p:nvPr/>
        </p:nvPicPr>
        <p:blipFill>
          <a:blip r:embed="rId2"/>
          <a:stretch>
            <a:fillRect/>
          </a:stretch>
        </p:blipFill>
        <p:spPr>
          <a:xfrm>
            <a:off x="4902762" y="2801723"/>
            <a:ext cx="3086100" cy="3111500"/>
          </a:xfrm>
          <a:prstGeom prst="rect">
            <a:avLst/>
          </a:prstGeom>
        </p:spPr>
      </p:pic>
      <p:pic>
        <p:nvPicPr>
          <p:cNvPr id="5" name="Picture 4"/>
          <p:cNvPicPr>
            <a:picLocks noChangeAspect="1"/>
          </p:cNvPicPr>
          <p:nvPr/>
        </p:nvPicPr>
        <p:blipFill>
          <a:blip r:embed="rId3"/>
          <a:stretch>
            <a:fillRect/>
          </a:stretch>
        </p:blipFill>
        <p:spPr>
          <a:xfrm>
            <a:off x="1219180" y="2801723"/>
            <a:ext cx="2983742" cy="3769877"/>
          </a:xfrm>
          <a:prstGeom prst="rect">
            <a:avLst/>
          </a:prstGeom>
        </p:spPr>
      </p:pic>
    </p:spTree>
    <p:extLst>
      <p:ext uri="{BB962C8B-B14F-4D97-AF65-F5344CB8AC3E}">
        <p14:creationId xmlns:p14="http://schemas.microsoft.com/office/powerpoint/2010/main" val="1702189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charset="0"/>
                <a:ea typeface="Arial" charset="0"/>
                <a:cs typeface="Arial" charset="0"/>
              </a:rPr>
              <a:t>Implementing it</a:t>
            </a:r>
          </a:p>
        </p:txBody>
      </p:sp>
      <p:sp>
        <p:nvSpPr>
          <p:cNvPr id="3" name="Content Placeholder 2"/>
          <p:cNvSpPr>
            <a:spLocks noGrp="1"/>
          </p:cNvSpPr>
          <p:nvPr>
            <p:ph idx="1"/>
          </p:nvPr>
        </p:nvSpPr>
        <p:spPr/>
        <p:txBody>
          <a:bodyPr/>
          <a:lstStyle/>
          <a:p>
            <a:r>
              <a:rPr lang="en-US" dirty="0"/>
              <a:t>When can a queen “take” another?</a:t>
            </a:r>
          </a:p>
          <a:p>
            <a:pPr lvl="1"/>
            <a:r>
              <a:rPr lang="en-US" dirty="0"/>
              <a:t>Diagonal</a:t>
            </a:r>
          </a:p>
          <a:p>
            <a:pPr lvl="1"/>
            <a:r>
              <a:rPr lang="en-US" dirty="0"/>
              <a:t>Vertical</a:t>
            </a:r>
          </a:p>
          <a:p>
            <a:pPr lvl="1"/>
            <a:r>
              <a:rPr lang="en-US" dirty="0"/>
              <a:t>Horizontal</a:t>
            </a:r>
          </a:p>
          <a:p>
            <a:r>
              <a:rPr lang="en-US" dirty="0"/>
              <a:t>So: at most one per row (or column)</a:t>
            </a:r>
          </a:p>
          <a:p>
            <a:r>
              <a:rPr lang="en-US" dirty="0"/>
              <a:t>Would then need to check if they are diagonal from each other</a:t>
            </a:r>
          </a:p>
        </p:txBody>
      </p:sp>
    </p:spTree>
    <p:extLst>
      <p:ext uri="{BB962C8B-B14F-4D97-AF65-F5344CB8AC3E}">
        <p14:creationId xmlns:p14="http://schemas.microsoft.com/office/powerpoint/2010/main" val="2064693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charset="0"/>
                <a:ea typeface="Arial" charset="0"/>
                <a:cs typeface="Arial" charset="0"/>
              </a:rPr>
              <a:t>So: use lists</a:t>
            </a:r>
          </a:p>
        </p:txBody>
      </p:sp>
      <p:sp>
        <p:nvSpPr>
          <p:cNvPr id="3" name="Content Placeholder 2"/>
          <p:cNvSpPr>
            <a:spLocks noGrp="1"/>
          </p:cNvSpPr>
          <p:nvPr>
            <p:ph idx="1"/>
          </p:nvPr>
        </p:nvSpPr>
        <p:spPr/>
        <p:txBody>
          <a:bodyPr/>
          <a:lstStyle/>
          <a:p>
            <a:r>
              <a:rPr lang="en-US" dirty="0"/>
              <a:t>We’ll represent a board as a list, where position </a:t>
            </a:r>
            <a:r>
              <a:rPr lang="en-US" dirty="0" err="1"/>
              <a:t>i</a:t>
            </a:r>
            <a:r>
              <a:rPr lang="en-US" dirty="0"/>
              <a:t> will be the location of the queen in row I</a:t>
            </a:r>
          </a:p>
          <a:p>
            <a:pPr lvl="1"/>
            <a:r>
              <a:rPr lang="en-US" dirty="0"/>
              <a:t>Example: [3,1,4,2]</a:t>
            </a:r>
          </a:p>
          <a:p>
            <a:pPr lvl="1"/>
            <a:endParaRPr lang="en-US" dirty="0"/>
          </a:p>
          <a:p>
            <a:r>
              <a:rPr lang="en-US" dirty="0"/>
              <a:t>How to check diagonals?</a:t>
            </a:r>
          </a:p>
          <a:p>
            <a:pPr lvl="1"/>
            <a:r>
              <a:rPr lang="en-US" dirty="0"/>
              <a:t>(Note: simple math trick…)</a:t>
            </a:r>
          </a:p>
        </p:txBody>
      </p:sp>
      <p:pic>
        <p:nvPicPr>
          <p:cNvPr id="4" name="Picture 3" descr="Screen Shot 2018-03-28 at 10.50.50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6982" y="2811715"/>
            <a:ext cx="2159000" cy="1993900"/>
          </a:xfrm>
          <a:prstGeom prst="rect">
            <a:avLst/>
          </a:prstGeom>
        </p:spPr>
      </p:pic>
    </p:spTree>
    <p:extLst>
      <p:ext uri="{BB962C8B-B14F-4D97-AF65-F5344CB8AC3E}">
        <p14:creationId xmlns:p14="http://schemas.microsoft.com/office/powerpoint/2010/main" val="112192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charset="0"/>
                <a:ea typeface="Arial" charset="0"/>
                <a:cs typeface="Arial" charset="0"/>
              </a:rPr>
              <a:t>Solution</a:t>
            </a:r>
            <a:r>
              <a:rPr lang="en-US" dirty="0"/>
              <a:t>:</a:t>
            </a:r>
          </a:p>
        </p:txBody>
      </p:sp>
      <p:sp>
        <p:nvSpPr>
          <p:cNvPr id="3" name="Content Placeholder 2"/>
          <p:cNvSpPr>
            <a:spLocks noGrp="1"/>
          </p:cNvSpPr>
          <p:nvPr>
            <p:ph idx="1"/>
          </p:nvPr>
        </p:nvSpPr>
        <p:spPr/>
        <p:txBody>
          <a:bodyPr>
            <a:normAutofit fontScale="77500" lnSpcReduction="20000"/>
          </a:bodyPr>
          <a:lstStyle/>
          <a:p>
            <a:pPr marL="0" indent="0">
              <a:buNone/>
            </a:pPr>
            <a:r>
              <a:rPr lang="en-US" sz="1600" dirty="0">
                <a:latin typeface="Courier New"/>
                <a:cs typeface="Courier New"/>
              </a:rPr>
              <a:t>/* prolog tutorial 2.11 Chess queens challenge puzzle */</a:t>
            </a:r>
          </a:p>
          <a:p>
            <a:pPr marL="0" indent="0">
              <a:buNone/>
            </a:pPr>
            <a:endParaRPr lang="en-US" sz="1600" dirty="0">
              <a:latin typeface="Courier New"/>
              <a:cs typeface="Courier New"/>
            </a:endParaRPr>
          </a:p>
          <a:p>
            <a:pPr marL="0" indent="0">
              <a:buNone/>
            </a:pPr>
            <a:r>
              <a:rPr lang="en-US" sz="1600" dirty="0">
                <a:latin typeface="Courier New"/>
                <a:cs typeface="Courier New"/>
              </a:rPr>
              <a:t>perm([X|Y],Z) :- perm(Y,W), takeout(X,Z,W).   </a:t>
            </a:r>
          </a:p>
          <a:p>
            <a:pPr marL="0" indent="0">
              <a:buNone/>
            </a:pPr>
            <a:r>
              <a:rPr lang="en-US" sz="1600" dirty="0">
                <a:latin typeface="Courier New"/>
                <a:cs typeface="Courier New"/>
              </a:rPr>
              <a:t>perm([],[]).</a:t>
            </a:r>
          </a:p>
          <a:p>
            <a:pPr marL="0" indent="0">
              <a:buNone/>
            </a:pPr>
            <a:endParaRPr lang="en-US" sz="1600" dirty="0">
              <a:latin typeface="Courier New"/>
              <a:cs typeface="Courier New"/>
            </a:endParaRPr>
          </a:p>
          <a:p>
            <a:pPr marL="0" indent="0">
              <a:buNone/>
            </a:pPr>
            <a:r>
              <a:rPr lang="en-US" sz="1600" dirty="0">
                <a:latin typeface="Courier New"/>
                <a:cs typeface="Courier New"/>
              </a:rPr>
              <a:t>takeout(X,[X|R],R).</a:t>
            </a:r>
          </a:p>
          <a:p>
            <a:pPr marL="0" indent="0">
              <a:buNone/>
            </a:pPr>
            <a:r>
              <a:rPr lang="en-US" sz="1600" dirty="0">
                <a:latin typeface="Courier New"/>
                <a:cs typeface="Courier New"/>
              </a:rPr>
              <a:t>takeout(X,[F|R],[F|S]) :- takeout(X,R,S).</a:t>
            </a:r>
          </a:p>
          <a:p>
            <a:pPr marL="0" indent="0">
              <a:buNone/>
            </a:pPr>
            <a:endParaRPr lang="en-US" sz="1600" dirty="0">
              <a:latin typeface="Courier New"/>
              <a:cs typeface="Courier New"/>
            </a:endParaRPr>
          </a:p>
          <a:p>
            <a:pPr marL="0" indent="0">
              <a:buNone/>
            </a:pPr>
            <a:r>
              <a:rPr lang="en-US" sz="1600" dirty="0">
                <a:latin typeface="Courier New"/>
                <a:cs typeface="Courier New"/>
              </a:rPr>
              <a:t>solve(P) :-</a:t>
            </a:r>
          </a:p>
          <a:p>
            <a:pPr marL="0" indent="0">
              <a:buNone/>
            </a:pPr>
            <a:r>
              <a:rPr lang="en-US" sz="1600" dirty="0">
                <a:latin typeface="Courier New"/>
                <a:cs typeface="Courier New"/>
              </a:rPr>
              <a:t>     perm([1,2,3,4,5,6,7,8],P), </a:t>
            </a:r>
          </a:p>
          <a:p>
            <a:pPr marL="0" indent="0">
              <a:buNone/>
            </a:pPr>
            <a:r>
              <a:rPr lang="en-US" sz="1600" dirty="0">
                <a:latin typeface="Courier New"/>
                <a:cs typeface="Courier New"/>
              </a:rPr>
              <a:t>     combine([1,2,3,4,5,6,7,8],P,S,D),</a:t>
            </a:r>
          </a:p>
          <a:p>
            <a:pPr marL="0" indent="0">
              <a:buNone/>
            </a:pPr>
            <a:r>
              <a:rPr lang="en-US" sz="1600" dirty="0">
                <a:latin typeface="Courier New"/>
                <a:cs typeface="Courier New"/>
              </a:rPr>
              <a:t>     </a:t>
            </a:r>
            <a:r>
              <a:rPr lang="en-US" sz="1600" dirty="0" err="1">
                <a:latin typeface="Courier New"/>
                <a:cs typeface="Courier New"/>
              </a:rPr>
              <a:t>all_diff</a:t>
            </a:r>
            <a:r>
              <a:rPr lang="en-US" sz="1600" dirty="0">
                <a:latin typeface="Courier New"/>
                <a:cs typeface="Courier New"/>
              </a:rPr>
              <a:t>(S),</a:t>
            </a:r>
          </a:p>
          <a:p>
            <a:pPr marL="0" indent="0">
              <a:buNone/>
            </a:pPr>
            <a:r>
              <a:rPr lang="en-US" sz="1600" dirty="0">
                <a:latin typeface="Courier New"/>
                <a:cs typeface="Courier New"/>
              </a:rPr>
              <a:t>     </a:t>
            </a:r>
            <a:r>
              <a:rPr lang="en-US" sz="1600" dirty="0" err="1">
                <a:latin typeface="Courier New"/>
                <a:cs typeface="Courier New"/>
              </a:rPr>
              <a:t>all_diff</a:t>
            </a:r>
            <a:r>
              <a:rPr lang="en-US" sz="1600" dirty="0">
                <a:latin typeface="Courier New"/>
                <a:cs typeface="Courier New"/>
              </a:rPr>
              <a:t>(D).</a:t>
            </a:r>
          </a:p>
          <a:p>
            <a:pPr marL="0" indent="0">
              <a:buNone/>
            </a:pPr>
            <a:endParaRPr lang="en-US" sz="1600" dirty="0">
              <a:latin typeface="Courier New"/>
              <a:cs typeface="Courier New"/>
            </a:endParaRPr>
          </a:p>
          <a:p>
            <a:pPr marL="0" indent="0">
              <a:buNone/>
            </a:pPr>
            <a:r>
              <a:rPr lang="en-US" sz="1600" dirty="0">
                <a:latin typeface="Courier New"/>
                <a:cs typeface="Courier New"/>
              </a:rPr>
              <a:t>combine([X1|X],[Y1|Y],[S1|S],[D1|D]) :-</a:t>
            </a:r>
          </a:p>
          <a:p>
            <a:pPr marL="0" indent="0">
              <a:buNone/>
            </a:pPr>
            <a:r>
              <a:rPr lang="en-US" sz="1600" dirty="0">
                <a:latin typeface="Courier New"/>
                <a:cs typeface="Courier New"/>
              </a:rPr>
              <a:t>     S1 is X1 +Y1,</a:t>
            </a:r>
          </a:p>
          <a:p>
            <a:pPr marL="0" indent="0">
              <a:buNone/>
            </a:pPr>
            <a:r>
              <a:rPr lang="en-US" sz="1600" dirty="0">
                <a:latin typeface="Courier New"/>
                <a:cs typeface="Courier New"/>
              </a:rPr>
              <a:t>     D1 is X1 - Y1,</a:t>
            </a:r>
          </a:p>
          <a:p>
            <a:pPr marL="0" indent="0">
              <a:buNone/>
            </a:pPr>
            <a:r>
              <a:rPr lang="en-US" sz="1600" dirty="0">
                <a:latin typeface="Courier New"/>
                <a:cs typeface="Courier New"/>
              </a:rPr>
              <a:t>     combine(X,Y,S,D).</a:t>
            </a:r>
          </a:p>
          <a:p>
            <a:pPr marL="0" indent="0">
              <a:buNone/>
            </a:pPr>
            <a:r>
              <a:rPr lang="en-US" sz="1600" dirty="0">
                <a:latin typeface="Courier New"/>
                <a:cs typeface="Courier New"/>
              </a:rPr>
              <a:t>combine([],[],[],[]).</a:t>
            </a:r>
          </a:p>
          <a:p>
            <a:pPr marL="0" indent="0">
              <a:buNone/>
            </a:pPr>
            <a:endParaRPr lang="en-US" sz="1600" dirty="0">
              <a:latin typeface="Courier New"/>
              <a:cs typeface="Courier New"/>
            </a:endParaRPr>
          </a:p>
          <a:p>
            <a:pPr marL="0" indent="0">
              <a:buNone/>
            </a:pPr>
            <a:r>
              <a:rPr lang="en-US" sz="1600" dirty="0" err="1">
                <a:latin typeface="Courier New"/>
                <a:cs typeface="Courier New"/>
              </a:rPr>
              <a:t>all_diff</a:t>
            </a:r>
            <a:r>
              <a:rPr lang="en-US" sz="1600" dirty="0">
                <a:latin typeface="Courier New"/>
                <a:cs typeface="Courier New"/>
              </a:rPr>
              <a:t>([X|Y]) :-  \+member(X,Y), </a:t>
            </a:r>
            <a:r>
              <a:rPr lang="en-US" sz="1600" dirty="0" err="1">
                <a:latin typeface="Courier New"/>
                <a:cs typeface="Courier New"/>
              </a:rPr>
              <a:t>all_diff</a:t>
            </a:r>
            <a:r>
              <a:rPr lang="en-US" sz="1600" dirty="0">
                <a:latin typeface="Courier New"/>
                <a:cs typeface="Courier New"/>
              </a:rPr>
              <a:t>(Y).</a:t>
            </a:r>
          </a:p>
          <a:p>
            <a:pPr marL="0" indent="0">
              <a:buNone/>
            </a:pPr>
            <a:r>
              <a:rPr lang="en-US" sz="1600" dirty="0" err="1">
                <a:latin typeface="Courier New"/>
                <a:cs typeface="Courier New"/>
              </a:rPr>
              <a:t>all_diff</a:t>
            </a:r>
            <a:r>
              <a:rPr lang="en-US" sz="1600" dirty="0">
                <a:latin typeface="Courier New"/>
                <a:cs typeface="Courier New"/>
              </a:rPr>
              <a:t>([X]).</a:t>
            </a:r>
          </a:p>
        </p:txBody>
      </p:sp>
    </p:spTree>
    <p:extLst>
      <p:ext uri="{BB962C8B-B14F-4D97-AF65-F5344CB8AC3E}">
        <p14:creationId xmlns:p14="http://schemas.microsoft.com/office/powerpoint/2010/main" val="128537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charset="0"/>
                <a:ea typeface="Arial" charset="0"/>
                <a:cs typeface="Arial" charset="0"/>
              </a:rPr>
              <a:t>Solution:</a:t>
            </a:r>
          </a:p>
        </p:txBody>
      </p:sp>
      <p:sp>
        <p:nvSpPr>
          <p:cNvPr id="3" name="Content Placeholder 2"/>
          <p:cNvSpPr>
            <a:spLocks noGrp="1"/>
          </p:cNvSpPr>
          <p:nvPr>
            <p:ph idx="1"/>
          </p:nvPr>
        </p:nvSpPr>
        <p:spPr/>
        <p:txBody>
          <a:bodyPr>
            <a:normAutofit/>
          </a:bodyPr>
          <a:lstStyle/>
          <a:p>
            <a:pPr marL="0" indent="0">
              <a:buNone/>
            </a:pPr>
            <a:r>
              <a:rPr lang="de-DE" sz="1600" dirty="0">
                <a:latin typeface="Courier New"/>
                <a:cs typeface="Courier New"/>
              </a:rPr>
              <a:t>| ?- [</a:t>
            </a:r>
            <a:r>
              <a:rPr lang="de-DE" sz="1600" dirty="0" err="1">
                <a:latin typeface="Courier New"/>
                <a:cs typeface="Courier New"/>
              </a:rPr>
              <a:t>chess</a:t>
            </a:r>
            <a:r>
              <a:rPr lang="de-DE" sz="1600" dirty="0">
                <a:latin typeface="Courier New"/>
                <a:cs typeface="Courier New"/>
              </a:rPr>
              <a:t>].</a:t>
            </a:r>
          </a:p>
          <a:p>
            <a:pPr marL="0" indent="0">
              <a:buNone/>
            </a:pPr>
            <a:r>
              <a:rPr lang="en-US" sz="1600" dirty="0">
                <a:latin typeface="Courier New"/>
                <a:cs typeface="Courier New"/>
              </a:rPr>
              <a:t>P = [5,2,6,1,7,4,8,3] ? ;</a:t>
            </a:r>
          </a:p>
          <a:p>
            <a:pPr marL="0" indent="0">
              <a:buNone/>
            </a:pPr>
            <a:r>
              <a:rPr lang="en-US" sz="1600" dirty="0">
                <a:latin typeface="Courier New"/>
                <a:cs typeface="Courier New"/>
              </a:rPr>
              <a:t>P = [6,3,5,7,1,4,2,8] ? ;</a:t>
            </a:r>
          </a:p>
          <a:p>
            <a:pPr marL="0" indent="0">
              <a:buNone/>
            </a:pPr>
            <a:r>
              <a:rPr lang="en-US" sz="1600" dirty="0">
                <a:latin typeface="Courier New"/>
                <a:cs typeface="Courier New"/>
              </a:rPr>
              <a:t>…</a:t>
            </a:r>
          </a:p>
          <a:p>
            <a:pPr marL="0" indent="0">
              <a:buNone/>
            </a:pPr>
            <a:endParaRPr lang="en-US" sz="1600" dirty="0">
              <a:latin typeface="Courier New"/>
              <a:cs typeface="Courier New"/>
            </a:endParaRPr>
          </a:p>
          <a:p>
            <a:pPr marL="0" indent="0">
              <a:buNone/>
            </a:pPr>
            <a:r>
              <a:rPr lang="en-US" sz="1600" dirty="0">
                <a:latin typeface="Courier New"/>
                <a:cs typeface="Courier New"/>
              </a:rPr>
              <a:t>| ?- </a:t>
            </a:r>
            <a:r>
              <a:rPr lang="en-US" sz="1600" dirty="0" err="1">
                <a:latin typeface="Courier New"/>
                <a:cs typeface="Courier New"/>
              </a:rPr>
              <a:t>setof</a:t>
            </a:r>
            <a:r>
              <a:rPr lang="en-US" sz="1600" dirty="0">
                <a:latin typeface="Courier New"/>
                <a:cs typeface="Courier New"/>
              </a:rPr>
              <a:t>(</a:t>
            </a:r>
            <a:r>
              <a:rPr lang="en-US" sz="1600" dirty="0" err="1">
                <a:latin typeface="Courier New"/>
                <a:cs typeface="Courier New"/>
              </a:rPr>
              <a:t>P,solve</a:t>
            </a:r>
            <a:r>
              <a:rPr lang="en-US" sz="1600" dirty="0">
                <a:latin typeface="Courier New"/>
                <a:cs typeface="Courier New"/>
              </a:rPr>
              <a:t>(P),Set), length(</a:t>
            </a:r>
            <a:r>
              <a:rPr lang="en-US" sz="1600" dirty="0" err="1">
                <a:latin typeface="Courier New"/>
                <a:cs typeface="Courier New"/>
              </a:rPr>
              <a:t>Set,L</a:t>
            </a:r>
            <a:r>
              <a:rPr lang="en-US" sz="1600" dirty="0">
                <a:latin typeface="Courier New"/>
                <a:cs typeface="Courier New"/>
              </a:rPr>
              <a:t>).                </a:t>
            </a:r>
          </a:p>
          <a:p>
            <a:endParaRPr lang="en-US" sz="1600" dirty="0">
              <a:latin typeface="Courier New"/>
              <a:cs typeface="Courier New"/>
            </a:endParaRPr>
          </a:p>
          <a:p>
            <a:pPr marL="0" indent="0">
              <a:buNone/>
            </a:pPr>
            <a:r>
              <a:rPr lang="en-US" sz="1600" dirty="0">
                <a:latin typeface="Courier New"/>
                <a:cs typeface="Courier New"/>
              </a:rPr>
              <a:t>L = 92</a:t>
            </a:r>
          </a:p>
          <a:p>
            <a:pPr marL="0" indent="0">
              <a:buNone/>
            </a:pPr>
            <a:r>
              <a:rPr lang="en-US" sz="1600" dirty="0">
                <a:latin typeface="Courier New"/>
                <a:cs typeface="Courier New"/>
              </a:rPr>
              <a:t>Set = [[1,5,8,6,3,7,2,4],[1,6,8,3,7,4,2,5],[1,7,4,6,8,2,5,3],[1,7,5,8,2,4,6,3],[2,4,6,8,3,1,7,5],[2,5,7,1,3,8,6,4],….</a:t>
            </a:r>
          </a:p>
        </p:txBody>
      </p:sp>
    </p:spTree>
    <p:extLst>
      <p:ext uri="{BB962C8B-B14F-4D97-AF65-F5344CB8AC3E}">
        <p14:creationId xmlns:p14="http://schemas.microsoft.com/office/powerpoint/2010/main" val="2106411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a14="http://schemas.microsoft.com/office/drawing/2010/main" xmlns=""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Conclusions</a:t>
            </a:r>
          </a:p>
        </p:txBody>
      </p:sp>
      <p:sp>
        <p:nvSpPr>
          <p:cNvPr id="26633" name="Rectangle 9"/>
          <p:cNvSpPr>
            <a:spLocks noGrp="1" noChangeArrowheads="1"/>
          </p:cNvSpPr>
          <p:nvPr>
            <p:ph type="body" idx="4294967295"/>
          </p:nvPr>
        </p:nvSpPr>
        <p:spPr>
          <a:xfrm>
            <a:off x="152400" y="1219200"/>
            <a:ext cx="8763000" cy="5105400"/>
          </a:xfrm>
          <a:extLst>
            <a:ext uri="{91240B29-F687-4f45-9708-019B960494DF}">
              <a14:hiddenLine xmlns:a14="http://schemas.microsoft.com/office/drawing/2010/main" xmlns="" w="9525">
                <a:solidFill>
                  <a:schemeClr val="tx1"/>
                </a:solidFill>
                <a:miter lim="800000"/>
                <a:headEnd/>
                <a:tailEnd/>
              </a14:hiddenLine>
            </a:ext>
          </a:extLst>
        </p:spPr>
        <p:txBody>
          <a:bodyPr rIns="132080">
            <a:normAutofit fontScale="92500" lnSpcReduction="20000"/>
          </a:bodyPr>
          <a:lstStyle/>
          <a:p>
            <a:pPr eaLnBrk="1" hangingPunct="1">
              <a:defRPr/>
            </a:pPr>
            <a:r>
              <a:rPr lang="en-US" dirty="0">
                <a:latin typeface="Times New Roman" charset="0"/>
                <a:ea typeface="ＭＳ Ｐゴシック" charset="0"/>
              </a:rPr>
              <a:t>Bigger examples are everywhere online</a:t>
            </a:r>
          </a:p>
          <a:p>
            <a:pPr lvl="1" eaLnBrk="1" hangingPunct="1">
              <a:defRPr/>
            </a:pPr>
            <a:r>
              <a:rPr lang="en-US" dirty="0">
                <a:latin typeface="Times New Roman" charset="0"/>
                <a:ea typeface="ＭＳ Ｐゴシック" charset="0"/>
              </a:rPr>
              <a:t>I really like the Sudoku example in your recommended text, “7 languages in 7 weeks” (you can find this chapter online for free, in fact), but it was really too long for class.</a:t>
            </a:r>
          </a:p>
          <a:p>
            <a:pPr eaLnBrk="1" hangingPunct="1">
              <a:defRPr/>
            </a:pPr>
            <a:r>
              <a:rPr lang="en-US" dirty="0">
                <a:latin typeface="Times New Roman" charset="0"/>
                <a:ea typeface="ＭＳ Ｐゴシック" charset="0"/>
              </a:rPr>
              <a:t>First used for language processing, but good also for games, web analysis, AI, scheduling, and other things.</a:t>
            </a:r>
          </a:p>
          <a:p>
            <a:pPr lvl="1" eaLnBrk="1" hangingPunct="1">
              <a:defRPr/>
            </a:pPr>
            <a:r>
              <a:rPr lang="en-US" dirty="0">
                <a:latin typeface="Times New Roman" charset="0"/>
                <a:ea typeface="ＭＳ Ｐゴシック" charset="0"/>
              </a:rPr>
              <a:t>Often really found in a larger applications, not solo.</a:t>
            </a:r>
          </a:p>
          <a:p>
            <a:pPr eaLnBrk="1" hangingPunct="1">
              <a:defRPr/>
            </a:pPr>
            <a:r>
              <a:rPr lang="en-US" dirty="0">
                <a:latin typeface="Times New Roman" charset="0"/>
                <a:ea typeface="ＭＳ Ｐゴシック" charset="0"/>
              </a:rPr>
              <a:t>Weaknesses:</a:t>
            </a:r>
          </a:p>
          <a:p>
            <a:pPr lvl="1" eaLnBrk="1" hangingPunct="1">
              <a:defRPr/>
            </a:pPr>
            <a:r>
              <a:rPr lang="en-US" dirty="0">
                <a:latin typeface="Times New Roman" charset="0"/>
                <a:ea typeface="ＭＳ Ｐゴシック" charset="0"/>
              </a:rPr>
              <a:t>Not general purpose – definitely a niche language.</a:t>
            </a:r>
          </a:p>
          <a:p>
            <a:pPr lvl="1" eaLnBrk="1" hangingPunct="1">
              <a:defRPr/>
            </a:pPr>
            <a:r>
              <a:rPr lang="en-US" dirty="0">
                <a:latin typeface="Times New Roman" charset="0"/>
                <a:ea typeface="ＭＳ Ｐゴシック" charset="0"/>
              </a:rPr>
              <a:t>Computationally intensive, so not good on big data.</a:t>
            </a:r>
          </a:p>
          <a:p>
            <a:pPr lvl="1" eaLnBrk="1" hangingPunct="1">
              <a:defRPr/>
            </a:pPr>
            <a:r>
              <a:rPr lang="en-US" dirty="0">
                <a:latin typeface="Times New Roman" charset="0"/>
                <a:ea typeface="ＭＳ Ｐゴシック" charset="0"/>
              </a:rPr>
              <a:t>Can be hard to manage recursion (even more so than functional).</a:t>
            </a:r>
          </a:p>
        </p:txBody>
      </p:sp>
    </p:spTree>
    <p:extLst>
      <p:ext uri="{BB962C8B-B14F-4D97-AF65-F5344CB8AC3E}">
        <p14:creationId xmlns:p14="http://schemas.microsoft.com/office/powerpoint/2010/main" val="1190378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5"/>
          <p:cNvSpPr>
            <a:spLocks/>
          </p:cNvSpPr>
          <p:nvPr/>
        </p:nvSpPr>
        <p:spPr bwMode="auto">
          <a:xfrm>
            <a:off x="0" y="0"/>
            <a:ext cx="9144000" cy="6858000"/>
          </a:xfrm>
          <a:prstGeom prst="rect">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sp>
        <p:nvSpPr>
          <p:cNvPr id="26632" name="Rectangle 8"/>
          <p:cNvSpPr>
            <a:spLocks noGrp="1" noChangeArrowheads="1"/>
          </p:cNvSpPr>
          <p:nvPr>
            <p:ph type="title" idx="4294967295"/>
          </p:nvPr>
        </p:nvSpPr>
        <p:spPr>
          <a:xfrm>
            <a:off x="406400" y="76200"/>
            <a:ext cx="8509000" cy="1447800"/>
          </a:xfrm>
          <a:extLst>
            <a:ext uri="{91240B29-F687-4f45-9708-019B960494DF}">
              <a14:hiddenLine xmlns:a14="http://schemas.microsoft.com/office/drawing/2010/main" xmlns="" w="9525">
                <a:solidFill>
                  <a:schemeClr val="tx1"/>
                </a:solidFill>
                <a:miter lim="800000"/>
                <a:headEnd/>
                <a:tailEnd/>
              </a14:hiddenLine>
            </a:ext>
          </a:extLst>
        </p:spPr>
        <p:txBody>
          <a:bodyPr rIns="132080"/>
          <a:lstStyle/>
          <a:p>
            <a:pPr indent="0" eaLnBrk="1" hangingPunct="1">
              <a:defRPr/>
            </a:pPr>
            <a:r>
              <a:rPr lang="en-US" b="1" dirty="0">
                <a:latin typeface="Arial" charset="0"/>
                <a:ea typeface="Arial" charset="0"/>
                <a:cs typeface="Arial" charset="0"/>
              </a:rPr>
              <a:t>Conclusions</a:t>
            </a:r>
          </a:p>
        </p:txBody>
      </p:sp>
      <p:sp>
        <p:nvSpPr>
          <p:cNvPr id="26633" name="Rectangle 9"/>
          <p:cNvSpPr>
            <a:spLocks noGrp="1" noChangeArrowheads="1"/>
          </p:cNvSpPr>
          <p:nvPr>
            <p:ph type="body" idx="4294967295"/>
          </p:nvPr>
        </p:nvSpPr>
        <p:spPr>
          <a:xfrm>
            <a:off x="152400" y="1219200"/>
            <a:ext cx="8763000" cy="5105400"/>
          </a:xfrm>
          <a:extLst>
            <a:ext uri="{91240B29-F687-4f45-9708-019B960494DF}">
              <a14:hiddenLine xmlns:a14="http://schemas.microsoft.com/office/drawing/2010/main" xmlns="" w="9525">
                <a:solidFill>
                  <a:schemeClr val="tx1"/>
                </a:solidFill>
                <a:miter lim="800000"/>
                <a:headEnd/>
                <a:tailEnd/>
              </a14:hiddenLine>
            </a:ext>
          </a:extLst>
        </p:spPr>
        <p:txBody>
          <a:bodyPr rIns="132080">
            <a:normAutofit fontScale="92500" lnSpcReduction="20000"/>
          </a:bodyPr>
          <a:lstStyle/>
          <a:p>
            <a:pPr eaLnBrk="1" hangingPunct="1">
              <a:defRPr/>
            </a:pPr>
            <a:r>
              <a:rPr lang="en-US" dirty="0">
                <a:latin typeface="Times New Roman" charset="0"/>
                <a:ea typeface="ＭＳ Ｐゴシック" charset="0"/>
              </a:rPr>
              <a:t>Two major steps:</a:t>
            </a:r>
          </a:p>
          <a:p>
            <a:pPr lvl="1" eaLnBrk="1" hangingPunct="1">
              <a:defRPr/>
            </a:pPr>
            <a:r>
              <a:rPr lang="en-US" dirty="0">
                <a:latin typeface="Times New Roman" charset="0"/>
                <a:ea typeface="ＭＳ Ｐゴシック" charset="0"/>
              </a:rPr>
              <a:t>Build a knowledge base</a:t>
            </a:r>
          </a:p>
          <a:p>
            <a:pPr lvl="1" eaLnBrk="1" hangingPunct="1">
              <a:defRPr/>
            </a:pPr>
            <a:r>
              <a:rPr lang="en-US" dirty="0">
                <a:latin typeface="Times New Roman" charset="0"/>
                <a:ea typeface="ＭＳ Ｐゴシック" charset="0"/>
              </a:rPr>
              <a:t>Compile this base and ask questions</a:t>
            </a:r>
          </a:p>
          <a:p>
            <a:pPr eaLnBrk="1" hangingPunct="1">
              <a:defRPr/>
            </a:pPr>
            <a:r>
              <a:rPr lang="en-US" dirty="0">
                <a:latin typeface="Times New Roman" charset="0"/>
                <a:ea typeface="ＭＳ Ｐゴシック" charset="0"/>
              </a:rPr>
              <a:t>Core computation is unification, as opposed to variables or functions.</a:t>
            </a:r>
          </a:p>
          <a:p>
            <a:pPr eaLnBrk="1" hangingPunct="1">
              <a:defRPr/>
            </a:pPr>
            <a:r>
              <a:rPr lang="en-US" dirty="0">
                <a:latin typeface="Times New Roman" charset="0"/>
                <a:ea typeface="ＭＳ Ｐゴシック" charset="0"/>
              </a:rPr>
              <a:t>Serious learning curve!  We’ve only tasted it briefly, so use this cautiously.  </a:t>
            </a:r>
          </a:p>
          <a:p>
            <a:pPr lvl="1" eaLnBrk="1" hangingPunct="1">
              <a:defRPr/>
            </a:pPr>
            <a:r>
              <a:rPr lang="en-US" dirty="0">
                <a:latin typeface="Times New Roman" charset="0"/>
                <a:ea typeface="ＭＳ Ｐゴシック" charset="0"/>
              </a:rPr>
              <a:t>Lots of people say this takes years to get good at, but finding places it can be applied can make life much easier.</a:t>
            </a:r>
          </a:p>
          <a:p>
            <a:pPr eaLnBrk="1" hangingPunct="1">
              <a:defRPr/>
            </a:pPr>
            <a:r>
              <a:rPr lang="en-US" dirty="0">
                <a:latin typeface="Times New Roman" charset="0"/>
                <a:ea typeface="ＭＳ Ｐゴシック" charset="0"/>
              </a:rPr>
              <a:t>My takeaway for you: some models of computation are just very different, but have their unique strengths.</a:t>
            </a:r>
          </a:p>
        </p:txBody>
      </p:sp>
    </p:spTree>
    <p:extLst>
      <p:ext uri="{BB962C8B-B14F-4D97-AF65-F5344CB8AC3E}">
        <p14:creationId xmlns:p14="http://schemas.microsoft.com/office/powerpoint/2010/main" val="7286847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TotalTime>
  <Words>2704</Words>
  <Application>Microsoft Office PowerPoint</Application>
  <PresentationFormat>如螢幕大小 (4:3)</PresentationFormat>
  <Paragraphs>245</Paragraphs>
  <Slides>29</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29</vt:i4>
      </vt:variant>
    </vt:vector>
  </HeadingPairs>
  <TitlesOfParts>
    <vt:vector size="35" baseType="lpstr">
      <vt:lpstr>Arial</vt:lpstr>
      <vt:lpstr>Arial Black</vt:lpstr>
      <vt:lpstr>Calibri</vt:lpstr>
      <vt:lpstr>Courier New</vt:lpstr>
      <vt:lpstr>Times New Roman</vt:lpstr>
      <vt:lpstr>Office Theme</vt:lpstr>
      <vt:lpstr>Prolog</vt:lpstr>
      <vt:lpstr>Last time</vt:lpstr>
      <vt:lpstr>Conclusion from last time:</vt:lpstr>
      <vt:lpstr>Imperative Control Flow</vt:lpstr>
      <vt:lpstr>Control flow - the cut</vt:lpstr>
      <vt:lpstr>Control flow: \=</vt:lpstr>
      <vt:lpstr>Control flow: back to the cut</vt:lpstr>
      <vt:lpstr>Control flow: the fail predicate</vt:lpstr>
      <vt:lpstr>Control flow: the fail predicate</vt:lpstr>
      <vt:lpstr>Looping and unbounded generators</vt:lpstr>
      <vt:lpstr>Looping and unbounded generators</vt:lpstr>
      <vt:lpstr>I/O in prolog</vt:lpstr>
      <vt:lpstr>Database Manipulation</vt:lpstr>
      <vt:lpstr>Additional predicates 有MECE嘛</vt:lpstr>
      <vt:lpstr>Using arg and functor</vt:lpstr>
      <vt:lpstr>Dynamic goals</vt:lpstr>
      <vt:lpstr>An example: DFAs</vt:lpstr>
      <vt:lpstr>Another example to recap</vt:lpstr>
      <vt:lpstr>Prolog – 3 coloring:</vt:lpstr>
      <vt:lpstr>Prolog – 4 coloring:</vt:lpstr>
      <vt:lpstr>My favorite example (in textbook)</vt:lpstr>
      <vt:lpstr>Sorting: quicksort</vt:lpstr>
      <vt:lpstr>Another example: queen’s challenge</vt:lpstr>
      <vt:lpstr>Implementing it</vt:lpstr>
      <vt:lpstr>So: use lists</vt:lpstr>
      <vt:lpstr>Solution:</vt:lpstr>
      <vt:lpstr>Solution:</vt:lpstr>
      <vt:lpstr>Conclusions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Prolog</dc:title>
  <dc:creator>Default User</dc:creator>
  <cp:lastModifiedBy>Gianni Chou</cp:lastModifiedBy>
  <cp:revision>13</cp:revision>
  <dcterms:created xsi:type="dcterms:W3CDTF">2018-03-26T15:23:20Z</dcterms:created>
  <dcterms:modified xsi:type="dcterms:W3CDTF">2022-09-13T02:44:57Z</dcterms:modified>
</cp:coreProperties>
</file>